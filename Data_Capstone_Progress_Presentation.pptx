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7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CCE03B-1808-224F-9FCD-21A894591456}" v="14" dt="2026-03-24T14:59:19.592"/>
    <p1510:client id="{D437EABF-C0C6-743D-4355-AD00B0644D34}" v="21" dt="2026-03-24T15:58:59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76"/>
  </p:normalViewPr>
  <p:slideViewPr>
    <p:cSldViewPr snapToGrid="0">
      <p:cViewPr varScale="1">
        <p:scale>
          <a:sx n="106" d="100"/>
          <a:sy n="106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9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7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91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4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5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6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1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5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69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78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0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54315A-CA34-DAA6-3CF9-41F4A8A67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Data Capstone</a:t>
            </a:r>
            <a:br>
              <a:rPr lang="en-US" sz="2000"/>
            </a:br>
            <a:r>
              <a:rPr lang="en-US" sz="2000"/>
              <a:t>Progress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03C2A-6271-ABB1-02A7-1B90E1DF7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David Whitmer</a:t>
            </a:r>
          </a:p>
          <a:p>
            <a:pPr algn="l"/>
            <a:r>
              <a:rPr lang="en-US" dirty="0"/>
              <a:t>Ben Fox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E35AFE-12F6-7797-B2EA-777A21C6EA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35" r="4553" b="-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7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3156E-6BFB-FC50-1659-CCA75D21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59" y="603504"/>
            <a:ext cx="523757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D56F7-FE46-6415-8059-3C5D76651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58" y="2212848"/>
            <a:ext cx="5237577" cy="4096512"/>
          </a:xfrm>
        </p:spPr>
        <p:txBody>
          <a:bodyPr>
            <a:normAutofit/>
          </a:bodyPr>
          <a:lstStyle/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370118-33B1-49D1-4906-935BF51F2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858" y="2785540"/>
            <a:ext cx="4919650" cy="528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63E37E-F64F-2621-E665-807BF1167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858" y="3542235"/>
            <a:ext cx="4919652" cy="873237"/>
          </a:xfrm>
          <a:prstGeom prst="rect">
            <a:avLst/>
          </a:prstGeom>
        </p:spPr>
      </p:pic>
      <p:sp>
        <p:nvSpPr>
          <p:cNvPr id="4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5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1D71A-D7B9-5949-DBE3-C3FF167D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Research Roadblock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50B33-4FCB-3F06-89E4-F73A71796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US" sz="1800" dirty="0"/>
              <a:t>Historical Michelin data cannot be scraped — the pages we need do not exist in any accessible archive.</a:t>
            </a:r>
          </a:p>
          <a:p>
            <a:r>
              <a:rPr lang="en-US" sz="1800" dirty="0"/>
              <a:t>Wayback Machine coverage is too sparse to reconstruct a meaningful time series.</a:t>
            </a:r>
          </a:p>
          <a:p>
            <a:r>
              <a:rPr lang="en-US" sz="1800" dirty="0"/>
              <a:t>Original Thesis: Were Michelin stars being inflated over time, outpacing restaurant industry growth?</a:t>
            </a:r>
          </a:p>
          <a:p>
            <a:endParaRPr lang="en-US" sz="1800" dirty="0"/>
          </a:p>
        </p:txBody>
      </p:sp>
      <p:pic>
        <p:nvPicPr>
          <p:cNvPr id="5" name="Picture 4" descr="People in a restaurant">
            <a:extLst>
              <a:ext uri="{FF2B5EF4-FFF2-40B4-BE49-F238E27FC236}">
                <a16:creationId xmlns:a16="http://schemas.microsoft.com/office/drawing/2014/main" id="{91FDDB22-1CFD-8402-6876-F83832507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75" r="38255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4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4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C126E-3FAD-93C1-5F9C-3F1A87D92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93" y="340661"/>
            <a:ext cx="7326472" cy="787897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4000" dirty="0"/>
              <a:t>Blog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46D3096-11C9-8676-8432-4731FBB1B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8581" y="2291556"/>
            <a:ext cx="9182100" cy="3441700"/>
          </a:xfrm>
          <a:prstGeom prst="rect">
            <a:avLst/>
          </a:prstGeom>
        </p:spPr>
      </p:pic>
      <p:sp>
        <p:nvSpPr>
          <p:cNvPr id="3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3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13F31-EBAD-E0F4-FDD2-0B095FF2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/>
              <a:t>Dataset Enrichment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D127C-8EBF-B492-A9BA-7EEE5DC26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40" y="2362952"/>
            <a:ext cx="5567617" cy="192082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BD19EC-8315-0DDF-AA07-9DE4B9475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10024" y="2362952"/>
            <a:ext cx="5625723" cy="164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2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F4C19-D44C-9815-705E-7C35C7DD9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Initial Data Analysis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0F3589-7CA4-74E1-5D52-590374CA0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740" y="2362952"/>
            <a:ext cx="5567617" cy="261677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A77E5FAF-7CB2-F4EF-46F5-CA0EA8073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024" y="2362952"/>
            <a:ext cx="5625723" cy="1617396"/>
          </a:xfrm>
          <a:prstGeom prst="rect">
            <a:avLst/>
          </a:prstGeom>
        </p:spPr>
      </p:pic>
      <p:sp>
        <p:nvSpPr>
          <p:cNvPr id="3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5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6D351-D5E1-CFE9-872D-4876D78F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Pivot: Cross-Sectional Analysis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DF7D4F-25C7-76B0-3B3A-62E44BD09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en-US" sz="1800" b="1" dirty="0"/>
              <a:t>Approach</a:t>
            </a:r>
          </a:p>
          <a:p>
            <a:pPr marL="457200" indent="-457200">
              <a:lnSpc>
                <a:spcPts val="1400"/>
              </a:lnSpc>
              <a:spcAft>
                <a:spcPts val="600"/>
              </a:spcAft>
              <a:buChar char="–"/>
            </a:pPr>
            <a:r>
              <a:rPr lang="en-US" sz="1600" dirty="0"/>
              <a:t>Shifting from trend analysis to a cross-sectional study using the 2026 dataset: 18,000 rows, globally complete, no missing values</a:t>
            </a:r>
          </a:p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en-US" sz="1800" b="1" dirty="0"/>
              <a:t>Research Question</a:t>
            </a:r>
          </a:p>
          <a:p>
            <a:pPr marL="457200" indent="-457200">
              <a:lnSpc>
                <a:spcPts val="1400"/>
              </a:lnSpc>
              <a:spcAft>
                <a:spcPts val="600"/>
              </a:spcAft>
              <a:buChar char="–"/>
            </a:pPr>
            <a:r>
              <a:rPr lang="en-US" sz="1600" dirty="0"/>
              <a:t>Are Michelin stars efficiently allocated across global markets, given economic, geographic, and market constraints?</a:t>
            </a:r>
          </a:p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en-US" sz="1800" b="1" dirty="0"/>
              <a:t>Method</a:t>
            </a:r>
          </a:p>
          <a:p>
            <a:pPr marL="457200" indent="-457200">
              <a:lnSpc>
                <a:spcPts val="1400"/>
              </a:lnSpc>
              <a:spcAft>
                <a:spcPts val="600"/>
              </a:spcAft>
              <a:buChar char="–"/>
            </a:pPr>
            <a:r>
              <a:rPr lang="en-US" sz="1600" dirty="0"/>
              <a:t>Negative binomial regression (count outcome) to generate predicted star counts per country; define a Star Allocation Residual (actual − predicted)</a:t>
            </a:r>
          </a:p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en-US" sz="1800" b="1" dirty="0"/>
              <a:t>Visualizations</a:t>
            </a:r>
          </a:p>
          <a:p>
            <a:pPr marL="457200" indent="-457200">
              <a:lnSpc>
                <a:spcPts val="1400"/>
              </a:lnSpc>
              <a:spcAft>
                <a:spcPts val="200"/>
              </a:spcAft>
              <a:buChar char="–"/>
            </a:pPr>
            <a:r>
              <a:rPr lang="en-US" sz="1600" dirty="0"/>
              <a:t>D3.js interactive bubble map: countries sized by star count, colored by residual, with city-level drill-down</a:t>
            </a:r>
          </a:p>
          <a:p>
            <a:pPr marL="457200" indent="-457200">
              <a:lnSpc>
                <a:spcPts val="1400"/>
              </a:lnSpc>
              <a:spcAft>
                <a:spcPts val="200"/>
              </a:spcAft>
              <a:buChar char="–"/>
            </a:pPr>
            <a:r>
              <a:rPr lang="en-US" sz="1600" dirty="0"/>
              <a:t>Regression diagnostics and a Lorenz curve showing global star concentration</a:t>
            </a:r>
          </a:p>
        </p:txBody>
      </p:sp>
      <p:sp>
        <p:nvSpPr>
          <p:cNvPr id="3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01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6B35A-5DF1-51EE-A807-F6B6D1D83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>
            <a:extLst>
              <a:ext uri="{FF2B5EF4-FFF2-40B4-BE49-F238E27FC236}">
                <a16:creationId xmlns:a16="http://schemas.microsoft.com/office/drawing/2014/main" id="{713C62F0-C0C2-54A9-5A90-116CE0CA5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48BD4-E88F-0271-B941-06A7739EA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F6A3E-5C35-E08E-0A56-1523870C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Some More Data Analysis 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3499A481-FD88-A99A-F63F-962FE22DD5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Content Placeholder 7" descr="A graph of a number of countries/regions&#10;&#10;AI-generated content may be incorrect.">
            <a:extLst>
              <a:ext uri="{FF2B5EF4-FFF2-40B4-BE49-F238E27FC236}">
                <a16:creationId xmlns:a16="http://schemas.microsoft.com/office/drawing/2014/main" id="{28616827-A627-4BEA-C2C0-73EDBF678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583" y="1353096"/>
            <a:ext cx="11984181" cy="490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449F6-F98B-D59A-76BC-E791CFB2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Country-Level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651C1-5878-EB04-71CC-6E919E7D3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400"/>
              </a:lnSpc>
              <a:spcAft>
                <a:spcPts val="300"/>
              </a:spcAft>
            </a:pPr>
            <a:r>
              <a:rPr lang="en-US" sz="1800" dirty="0"/>
              <a:t>Merging four external variables into a country-level dataset:</a:t>
            </a:r>
          </a:p>
          <a:p>
            <a:pPr marL="457200" indent="-457200">
              <a:lnSpc>
                <a:spcPts val="1600"/>
              </a:lnSpc>
              <a:spcAft>
                <a:spcPts val="300"/>
              </a:spcAft>
              <a:buChar char="–"/>
            </a:pPr>
            <a:r>
              <a:rPr lang="en-US" sz="1800" b="1" dirty="0"/>
              <a:t>GDP per capita </a:t>
            </a:r>
            <a:r>
              <a:rPr lang="en-US" sz="1800" dirty="0"/>
              <a:t>— World Bank</a:t>
            </a:r>
          </a:p>
          <a:p>
            <a:pPr marL="457200" indent="-457200">
              <a:lnSpc>
                <a:spcPts val="1600"/>
              </a:lnSpc>
              <a:spcAft>
                <a:spcPts val="300"/>
              </a:spcAft>
              <a:buChar char="–"/>
            </a:pPr>
            <a:r>
              <a:rPr lang="en-US" sz="1800" b="1" dirty="0"/>
              <a:t>Restaurant / fine dining counts </a:t>
            </a:r>
            <a:r>
              <a:rPr lang="en-US" sz="1800" dirty="0"/>
              <a:t>— OECD Structural Business Statistics</a:t>
            </a:r>
          </a:p>
          <a:p>
            <a:pPr marL="457200" indent="-457200">
              <a:lnSpc>
                <a:spcPts val="1600"/>
              </a:lnSpc>
              <a:spcAft>
                <a:spcPts val="300"/>
              </a:spcAft>
              <a:buChar char="–"/>
            </a:pPr>
            <a:r>
              <a:rPr lang="en-US" sz="1800" b="1" dirty="0"/>
              <a:t>Inbound tourism arrivals </a:t>
            </a:r>
            <a:r>
              <a:rPr lang="en-US" sz="1800" dirty="0"/>
              <a:t>— UNWTO</a:t>
            </a:r>
          </a:p>
          <a:p>
            <a:pPr marL="457200" indent="-457200">
              <a:lnSpc>
                <a:spcPts val="1600"/>
              </a:lnSpc>
              <a:spcAft>
                <a:spcPts val="300"/>
              </a:spcAft>
              <a:buChar char="–"/>
            </a:pPr>
            <a:r>
              <a:rPr lang="en-US" sz="1800" b="1" dirty="0"/>
              <a:t>Urbanization rate </a:t>
            </a:r>
            <a:r>
              <a:rPr lang="en-US" sz="1800" dirty="0"/>
              <a:t>— UN World Urbanization Prospects</a:t>
            </a:r>
          </a:p>
        </p:txBody>
      </p:sp>
      <p:sp>
        <p:nvSpPr>
          <p:cNvPr id="4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1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42C91-059B-45C1-9214-5F9F7774F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Harmonization 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B7F213-A36C-9393-115C-D84695643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1700000"/>
            <a:ext cx="10966706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Monaco, Andorra, Liechtenstein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tiny microstates often excluded from World Bank/OECD/UNWTO datasets or merged with neighboring countries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Hong Kong, Macau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listed separately in Michelin but aggregated under China in most economic databases; World Bank does track them separately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Abu Dhabi, Dubai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emirates, not sovereign countries; map both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UAE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country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Taiwan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politically contested; absent from World Bank, but trackable via IMF and some OECD sources under "Chinese Taipei"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China Mainland / Chinese Mainland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duplicate entries in your dataset, treat as 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9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71071-EADB-B2E3-F8B6-2ECDC8A70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Data Sources &amp; 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E24A4-65F2-B264-411E-4DCE5953C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700" b="1" dirty="0"/>
              <a:t>World Bank — GDP per capita</a:t>
            </a:r>
          </a:p>
          <a:p>
            <a:pPr marL="457200" indent="-457200">
              <a:lnSpc>
                <a:spcPts val="1400"/>
              </a:lnSpc>
              <a:spcAft>
                <a:spcPts val="100"/>
              </a:spcAft>
              <a:buChar char="–"/>
            </a:pPr>
            <a:r>
              <a:rPr lang="en-US" sz="1500" dirty="0"/>
              <a:t>Bulk CSV download: data.worldbank.org/indicator/NY.GDP.PCAP.CD</a:t>
            </a:r>
          </a:p>
          <a:p>
            <a:pPr marL="457200" indent="-457200">
              <a:lnSpc>
                <a:spcPts val="1400"/>
              </a:lnSpc>
              <a:spcAft>
                <a:spcPts val="500"/>
              </a:spcAft>
              <a:buChar char="–"/>
            </a:pPr>
            <a:r>
              <a:rPr lang="en-US" sz="1500" dirty="0"/>
              <a:t>Edge cases: HK and Macau have own World Bank entries; Taiwan not listed — use IMF WEO database instead</a:t>
            </a:r>
          </a:p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700" b="1" dirty="0"/>
              <a:t>OECD — Restaurant / food service counts</a:t>
            </a:r>
          </a:p>
          <a:p>
            <a:pPr marL="457200" indent="-457200">
              <a:lnSpc>
                <a:spcPts val="1400"/>
              </a:lnSpc>
              <a:spcAft>
                <a:spcPts val="100"/>
              </a:spcAft>
              <a:buChar char="–"/>
            </a:pPr>
            <a:r>
              <a:rPr lang="en-US" sz="1500" dirty="0"/>
              <a:t>OECD Structural Business Statistics — filter by ISIC code I56 (food and beverage service activities)</a:t>
            </a:r>
          </a:p>
          <a:p>
            <a:pPr marL="457200" indent="-457200">
              <a:lnSpc>
                <a:spcPts val="1400"/>
              </a:lnSpc>
              <a:spcAft>
                <a:spcPts val="500"/>
              </a:spcAft>
              <a:buChar char="–"/>
            </a:pPr>
            <a:r>
              <a:rPr lang="en-US" sz="1500" dirty="0"/>
              <a:t>Caveat: OECD covers member states only; non-members (Singapore, UAE, China, etc.) require national statistics offices or World Bank proxies</a:t>
            </a:r>
          </a:p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700" b="1" dirty="0"/>
              <a:t>UNWTO — Inbound tourism arrivals</a:t>
            </a:r>
          </a:p>
          <a:p>
            <a:pPr marL="457200" indent="-457200">
              <a:lnSpc>
                <a:spcPts val="1400"/>
              </a:lnSpc>
              <a:spcAft>
                <a:spcPts val="500"/>
              </a:spcAft>
              <a:buChar char="–"/>
            </a:pPr>
            <a:r>
              <a:rPr lang="en-US" sz="1500" dirty="0"/>
              <a:t>UNWTO compendium download covers most countries; if paywalled, identical data available via World Bank (indicator: ST.INT.ARVL)</a:t>
            </a:r>
          </a:p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700" b="1" dirty="0"/>
              <a:t>UN World Urbanization Prospects — Urbanization rate</a:t>
            </a:r>
          </a:p>
          <a:p>
            <a:pPr marL="457200" indent="-457200">
              <a:lnSpc>
                <a:spcPts val="1400"/>
              </a:lnSpc>
              <a:spcAft>
                <a:spcPts val="200"/>
              </a:spcAft>
              <a:buChar char="–"/>
            </a:pPr>
            <a:r>
              <a:rPr lang="en-US" sz="1500" dirty="0"/>
              <a:t>population.un.org/wup/downloads — file: "Urban population as % of total"; covers all countries including microstates and Taiwan</a:t>
            </a:r>
          </a:p>
        </p:txBody>
      </p:sp>
      <p:sp>
        <p:nvSpPr>
          <p:cNvPr id="4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3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54361-B40E-15F2-9CB2-D1793A58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64CF9-19EB-21EC-0702-13298D49F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600"/>
              </a:lnSpc>
              <a:spcAft>
                <a:spcPts val="500"/>
              </a:spcAft>
            </a:pPr>
            <a:r>
              <a:rPr lang="en-US" sz="2000" b="1" dirty="0"/>
              <a:t>What we’ve done</a:t>
            </a:r>
          </a:p>
          <a:p>
            <a:pPr marL="457200" indent="-457200">
              <a:lnSpc>
                <a:spcPts val="1600"/>
              </a:lnSpc>
              <a:spcAft>
                <a:spcPts val="200"/>
              </a:spcAft>
              <a:buChar char="–"/>
            </a:pPr>
            <a:r>
              <a:rPr lang="en-US" sz="1700" dirty="0"/>
              <a:t>Scraped and cleaned 18,000-row global Michelin dataset (2026)</a:t>
            </a:r>
          </a:p>
          <a:p>
            <a:pPr marL="457200" indent="-457200">
              <a:lnSpc>
                <a:spcPts val="1600"/>
              </a:lnSpc>
              <a:spcAft>
                <a:spcPts val="200"/>
              </a:spcAft>
              <a:buChar char="–"/>
            </a:pPr>
            <a:r>
              <a:rPr lang="en-US" sz="1700" dirty="0"/>
              <a:t>Enriched with price-floor and currency conversion data</a:t>
            </a:r>
          </a:p>
          <a:p>
            <a:pPr marL="457200" indent="-457200">
              <a:lnSpc>
                <a:spcPts val="1600"/>
              </a:lnSpc>
              <a:spcAft>
                <a:spcPts val="700"/>
              </a:spcAft>
              <a:buChar char="–"/>
            </a:pPr>
            <a:r>
              <a:rPr lang="en-US" sz="1700" dirty="0"/>
              <a:t>Pivoted research question and identified the right methodology</a:t>
            </a:r>
          </a:p>
          <a:p>
            <a:pPr>
              <a:lnSpc>
                <a:spcPts val="1600"/>
              </a:lnSpc>
              <a:spcAft>
                <a:spcPts val="500"/>
              </a:spcAft>
            </a:pPr>
            <a:r>
              <a:rPr lang="en-US" sz="2000" b="1" dirty="0"/>
              <a:t>What’s next</a:t>
            </a:r>
          </a:p>
          <a:p>
            <a:pPr marL="457200" indent="-457200">
              <a:lnSpc>
                <a:spcPts val="1600"/>
              </a:lnSpc>
              <a:spcAft>
                <a:spcPts val="200"/>
              </a:spcAft>
              <a:buChar char="–"/>
            </a:pPr>
            <a:r>
              <a:rPr lang="en-US" sz="1700" dirty="0"/>
              <a:t>Merge in external datasets (World Bank, OECD, UNWTO, UN)</a:t>
            </a:r>
          </a:p>
          <a:p>
            <a:pPr marL="457200" indent="-457200">
              <a:lnSpc>
                <a:spcPts val="1600"/>
              </a:lnSpc>
              <a:spcAft>
                <a:spcPts val="200"/>
              </a:spcAft>
              <a:buChar char="–"/>
            </a:pPr>
            <a:r>
              <a:rPr lang="en-US" sz="1700" dirty="0"/>
              <a:t>Run negative binomial regression; compute Star Allocation Residuals</a:t>
            </a:r>
          </a:p>
          <a:p>
            <a:pPr marL="457200" indent="-457200">
              <a:lnSpc>
                <a:spcPts val="1600"/>
              </a:lnSpc>
              <a:spcAft>
                <a:spcPts val="200"/>
              </a:spcAft>
              <a:buChar char="–"/>
            </a:pPr>
            <a:r>
              <a:rPr lang="en-US" sz="1700" dirty="0"/>
              <a:t>Build D3.js interactive map and Lorenz curve visualizations</a:t>
            </a:r>
          </a:p>
        </p:txBody>
      </p:sp>
      <p:sp>
        <p:nvSpPr>
          <p:cNvPr id="4" name="AccentBar"/>
          <p:cNvSpPr>
            <a:spLocks noGrp="1"/>
          </p:cNvSpPr>
          <p:nvPr/>
        </p:nvSpPr>
        <p:spPr>
          <a:xfrm>
            <a:off x="0" y="0"/>
            <a:ext cx="200025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3813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549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VanillaVTI</vt:lpstr>
      <vt:lpstr>Data Capstone Progress Presentation</vt:lpstr>
      <vt:lpstr>Data Collection</vt:lpstr>
      <vt:lpstr>Research Roadblock</vt:lpstr>
      <vt:lpstr>Blog </vt:lpstr>
      <vt:lpstr>Dataset Enrichment</vt:lpstr>
      <vt:lpstr>Initial Data Analysis </vt:lpstr>
      <vt:lpstr>Pivot: Cross-Sectional Analysis</vt:lpstr>
      <vt:lpstr>Some More Data Analysis </vt:lpstr>
      <vt:lpstr>Building the Country-Level Dataset</vt:lpstr>
      <vt:lpstr>Data Harmonization Challenges</vt:lpstr>
      <vt:lpstr>External Data Sources &amp; Workarounds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Whitmer, David</dc:creator>
  <cp:lastModifiedBy>Whitmer, David</cp:lastModifiedBy>
  <cp:revision>21</cp:revision>
  <dcterms:created xsi:type="dcterms:W3CDTF">2026-03-24T14:27:51Z</dcterms:created>
  <dcterms:modified xsi:type="dcterms:W3CDTF">2026-03-24T16:09:13Z</dcterms:modified>
</cp:coreProperties>
</file>