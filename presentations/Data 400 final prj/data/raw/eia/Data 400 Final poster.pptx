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napToGrid="0">
      <p:cViewPr>
        <p:scale>
          <a:sx n="26" d="100"/>
          <a:sy n="26" d="100"/>
        </p:scale>
        <p:origin x="2000" y="848"/>
      </p:cViewPr>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F7786-1C60-D848-924C-F4CA3E5B9B2C}" type="datetimeFigureOut">
              <a:rPr lang="en-US" smtClean="0"/>
              <a:t>4/9/26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8144F-388C-054C-94EF-04103488044A}" type="slidenum">
              <a:rPr lang="en-US" smtClean="0"/>
              <a:t>‹#›</a:t>
            </a:fld>
            <a:endParaRPr lang="en-US"/>
          </a:p>
        </p:txBody>
      </p:sp>
    </p:spTree>
    <p:extLst>
      <p:ext uri="{BB962C8B-B14F-4D97-AF65-F5344CB8AC3E}">
        <p14:creationId xmlns:p14="http://schemas.microsoft.com/office/powerpoint/2010/main" val="3730509298"/>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F8144F-388C-054C-94EF-04103488044A}" type="slidenum">
              <a:rPr lang="en-US" smtClean="0"/>
              <a:t>1</a:t>
            </a:fld>
            <a:endParaRPr lang="en-US"/>
          </a:p>
        </p:txBody>
      </p:sp>
    </p:spTree>
    <p:extLst>
      <p:ext uri="{BB962C8B-B14F-4D97-AF65-F5344CB8AC3E}">
        <p14:creationId xmlns:p14="http://schemas.microsoft.com/office/powerpoint/2010/main" val="2435459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GB"/>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5020E04-3C5F-BF4B-BA27-D885460F7B3C}"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3126744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5020E04-3C5F-BF4B-BA27-D885460F7B3C}"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489284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GB"/>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5020E04-3C5F-BF4B-BA27-D885460F7B3C}"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211597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5020E04-3C5F-BF4B-BA27-D885460F7B3C}"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4006254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GB"/>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GB"/>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5020E04-3C5F-BF4B-BA27-D885460F7B3C}" type="datetimeFigureOut">
              <a:rPr lang="en-US" smtClean="0"/>
              <a:t>4/8/26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2289610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5020E04-3C5F-BF4B-BA27-D885460F7B3C}" type="datetimeFigureOut">
              <a:rPr lang="en-US" smtClean="0"/>
              <a:t>4/8/26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3194460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020E04-3C5F-BF4B-BA27-D885460F7B3C}" type="datetimeFigureOut">
              <a:rPr lang="en-US" smtClean="0"/>
              <a:t>4/8/26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1236317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GB"/>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GB"/>
              <a:t>Click to edit Master text styles</a:t>
            </a:r>
          </a:p>
        </p:txBody>
      </p:sp>
      <p:sp>
        <p:nvSpPr>
          <p:cNvPr id="5" name="Date Placeholder 4"/>
          <p:cNvSpPr>
            <a:spLocks noGrp="1"/>
          </p:cNvSpPr>
          <p:nvPr>
            <p:ph type="dt" sz="half" idx="10"/>
          </p:nvPr>
        </p:nvSpPr>
        <p:spPr/>
        <p:txBody>
          <a:bodyPr/>
          <a:lstStyle/>
          <a:p>
            <a:fld id="{E5020E04-3C5F-BF4B-BA27-D885460F7B3C}"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3310687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GB"/>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GB"/>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GB"/>
              <a:t>Click to edit Master text styles</a:t>
            </a:r>
          </a:p>
        </p:txBody>
      </p:sp>
      <p:sp>
        <p:nvSpPr>
          <p:cNvPr id="5" name="Date Placeholder 4"/>
          <p:cNvSpPr>
            <a:spLocks noGrp="1"/>
          </p:cNvSpPr>
          <p:nvPr>
            <p:ph type="dt" sz="half" idx="10"/>
          </p:nvPr>
        </p:nvSpPr>
        <p:spPr/>
        <p:txBody>
          <a:bodyPr/>
          <a:lstStyle/>
          <a:p>
            <a:fld id="{E5020E04-3C5F-BF4B-BA27-D885460F7B3C}" type="datetimeFigureOut">
              <a:rPr lang="en-US" smtClean="0"/>
              <a:t>4/8/26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2802972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5020E04-3C5F-BF4B-BA27-D885460F7B3C}"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275764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5020E04-3C5F-BF4B-BA27-D885460F7B3C}" type="datetimeFigureOut">
              <a:rPr lang="en-US" smtClean="0"/>
              <a:t>4/8/26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02E13-445C-3548-B0A2-27B96367ED68}" type="slidenum">
              <a:rPr lang="en-US" smtClean="0"/>
              <a:t>‹#›</a:t>
            </a:fld>
            <a:endParaRPr lang="en-US"/>
          </a:p>
        </p:txBody>
      </p:sp>
    </p:spTree>
    <p:extLst>
      <p:ext uri="{BB962C8B-B14F-4D97-AF65-F5344CB8AC3E}">
        <p14:creationId xmlns:p14="http://schemas.microsoft.com/office/powerpoint/2010/main" val="482071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E5020E04-3C5F-BF4B-BA27-D885460F7B3C}" type="datetimeFigureOut">
              <a:rPr lang="en-US" smtClean="0"/>
              <a:t>4/8/26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8CB02E13-445C-3548-B0A2-27B96367ED68}" type="slidenum">
              <a:rPr lang="en-US" smtClean="0"/>
              <a:t>‹#›</a:t>
            </a:fld>
            <a:endParaRPr lang="en-US"/>
          </a:p>
        </p:txBody>
      </p:sp>
    </p:spTree>
    <p:extLst>
      <p:ext uri="{BB962C8B-B14F-4D97-AF65-F5344CB8AC3E}">
        <p14:creationId xmlns:p14="http://schemas.microsoft.com/office/powerpoint/2010/main" val="22013352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jp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938E6D-BE33-8680-E9D6-208D2F6D5890}"/>
              </a:ext>
            </a:extLst>
          </p:cNvPr>
          <p:cNvSpPr txBox="1"/>
          <p:nvPr/>
        </p:nvSpPr>
        <p:spPr>
          <a:xfrm>
            <a:off x="0" y="0"/>
            <a:ext cx="43891200" cy="2846933"/>
          </a:xfrm>
          <a:prstGeom prst="rect">
            <a:avLst/>
          </a:prstGeom>
          <a:noFill/>
        </p:spPr>
        <p:txBody>
          <a:bodyPr wrap="square">
            <a:spAutoFit/>
          </a:bodyPr>
          <a:lstStyle/>
          <a:p>
            <a:pPr algn="ctr"/>
            <a:endParaRPr lang="en-US" sz="2000" b="1" i="0" u="none" strike="noStrike" dirty="0">
              <a:solidFill>
                <a:srgbClr val="000000"/>
              </a:solidFill>
              <a:effectLst/>
              <a:latin typeface="Book Antiqua" panose="02040602050305030304" pitchFamily="18" charset="0"/>
            </a:endParaRPr>
          </a:p>
          <a:p>
            <a:pPr algn="ctr"/>
            <a:r>
              <a:rPr lang="en-US" sz="5500" b="1" i="0" u="none" strike="noStrike" dirty="0">
                <a:solidFill>
                  <a:schemeClr val="accent1">
                    <a:lumMod val="50000"/>
                  </a:schemeClr>
                </a:solidFill>
                <a:effectLst/>
                <a:latin typeface="Book Antiqua" panose="02040602050305030304" pitchFamily="18" charset="0"/>
              </a:rPr>
              <a:t>Rising Fast, Falling Slow: The Hidden Cost of Gasoline Price Asymmetry</a:t>
            </a:r>
            <a:br>
              <a:rPr lang="en-US" sz="4800" b="1" dirty="0">
                <a:solidFill>
                  <a:schemeClr val="accent1">
                    <a:lumMod val="50000"/>
                  </a:schemeClr>
                </a:solidFill>
                <a:latin typeface="Book Antiqua" panose="02040602050305030304" pitchFamily="18" charset="0"/>
                <a:cs typeface="Arial" panose="020B0604020202020204" pitchFamily="34" charset="0"/>
              </a:rPr>
            </a:br>
            <a:r>
              <a:rPr lang="en-US" sz="4500" b="0" i="0" u="none" strike="noStrike" dirty="0">
                <a:solidFill>
                  <a:schemeClr val="accent1">
                    <a:lumMod val="50000"/>
                  </a:schemeClr>
                </a:solidFill>
                <a:effectLst/>
                <a:latin typeface="Book Antiqua" panose="02040602050305030304" pitchFamily="18" charset="0"/>
              </a:rPr>
              <a:t>A Data-Driven Analysis of Pass-Through Speed, Regional Disparity, and Price Prediction in U.S. Fuel Markets</a:t>
            </a:r>
          </a:p>
          <a:p>
            <a:pPr algn="ctr"/>
            <a:r>
              <a:rPr lang="en-US" sz="3500" dirty="0">
                <a:solidFill>
                  <a:schemeClr val="accent1">
                    <a:lumMod val="50000"/>
                  </a:schemeClr>
                </a:solidFill>
                <a:latin typeface="Book Antiqua" panose="02040602050305030304" pitchFamily="18" charset="0"/>
                <a:cs typeface="Arial" panose="020B0604020202020204" pitchFamily="34" charset="0"/>
              </a:rPr>
              <a:t>By: Kien Nguyen, </a:t>
            </a:r>
            <a:r>
              <a:rPr lang="en-US" sz="3500" dirty="0" err="1">
                <a:solidFill>
                  <a:schemeClr val="accent1">
                    <a:lumMod val="50000"/>
                  </a:schemeClr>
                </a:solidFill>
                <a:latin typeface="Book Antiqua" panose="02040602050305030304" pitchFamily="18" charset="0"/>
                <a:cs typeface="Arial" panose="020B0604020202020204" pitchFamily="34" charset="0"/>
              </a:rPr>
              <a:t>Hoa</a:t>
            </a:r>
            <a:r>
              <a:rPr lang="en-US" sz="3500" dirty="0">
                <a:solidFill>
                  <a:schemeClr val="accent1">
                    <a:lumMod val="50000"/>
                  </a:schemeClr>
                </a:solidFill>
                <a:latin typeface="Book Antiqua" panose="02040602050305030304" pitchFamily="18" charset="0"/>
                <a:cs typeface="Arial" panose="020B0604020202020204" pitchFamily="34" charset="0"/>
              </a:rPr>
              <a:t> Ly</a:t>
            </a:r>
            <a:endParaRPr lang="en-US" sz="3500" b="1" dirty="0">
              <a:solidFill>
                <a:schemeClr val="accent1">
                  <a:lumMod val="50000"/>
                </a:schemeClr>
              </a:solidFill>
              <a:latin typeface="Book Antiqua" panose="02040602050305030304" pitchFamily="18" charset="0"/>
              <a:cs typeface="Arial" panose="020B0604020202020204" pitchFamily="34" charset="0"/>
            </a:endParaRPr>
          </a:p>
          <a:p>
            <a:pPr algn="ctr"/>
            <a:endParaRPr lang="en-US" sz="2400" b="1" dirty="0">
              <a:solidFill>
                <a:schemeClr val="accent1">
                  <a:lumMod val="50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58C7F7E-AF0F-254D-8F7C-EE98D35B47CA}"/>
              </a:ext>
            </a:extLst>
          </p:cNvPr>
          <p:cNvSpPr txBox="1"/>
          <p:nvPr/>
        </p:nvSpPr>
        <p:spPr>
          <a:xfrm>
            <a:off x="419086" y="3007513"/>
            <a:ext cx="10704578" cy="19913144"/>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3500" b="1" i="0" strike="noStrike" dirty="0">
                <a:solidFill>
                  <a:schemeClr val="accent1">
                    <a:lumMod val="50000"/>
                  </a:schemeClr>
                </a:solidFill>
                <a:effectLst/>
                <a:latin typeface="Book Antiqua" panose="02040602050305030304" pitchFamily="18" charset="0"/>
              </a:rPr>
              <a:t>INTRODUCTION</a:t>
            </a:r>
          </a:p>
          <a:p>
            <a:r>
              <a:rPr lang="en-US" sz="3200" b="1" dirty="0">
                <a:solidFill>
                  <a:srgbClr val="000000"/>
                </a:solidFill>
                <a:latin typeface="Arial" panose="020B0604020202020204" pitchFamily="34" charset="0"/>
                <a:cs typeface="Arial" panose="020B0604020202020204" pitchFamily="34" charset="0"/>
              </a:rPr>
              <a:t>Background</a:t>
            </a:r>
          </a:p>
          <a:p>
            <a:r>
              <a:rPr lang="en-US" sz="2500" b="0" i="0" u="none" strike="noStrike" dirty="0">
                <a:solidFill>
                  <a:srgbClr val="000000"/>
                </a:solidFill>
                <a:effectLst/>
                <a:latin typeface="-webkit-standard"/>
              </a:rPr>
              <a:t>Gasoline is a non-discretionary expense for over 150 million U.S. commuters paying an average of $3.50+/gallon. Approximately 50% of the pump price is determined by global crude oil markets — outside any consumer's control. Prior research (Bacon, 1991) identified the "Rockets and Feathers" effect: retail gas prices rise quickly when crude oil increases but fall slowly when crude decreases. This asymmetry systematically costs consumers an estimated $50–150/year, with low-income households (who spend 8–10% of income on fuel) bearing a disproportionate burden.</a:t>
            </a:r>
          </a:p>
          <a:p>
            <a:endParaRPr lang="en-US" sz="3200" dirty="0">
              <a:solidFill>
                <a:srgbClr val="000000"/>
              </a:solidFill>
              <a:latin typeface="-webkit-standard"/>
              <a:cs typeface="Arial" panose="020B0604020202020204" pitchFamily="34" charset="0"/>
            </a:endParaRPr>
          </a:p>
          <a:p>
            <a:r>
              <a:rPr lang="en-US" sz="3200" b="1" i="0" u="none" strike="noStrike" dirty="0">
                <a:solidFill>
                  <a:srgbClr val="000000"/>
                </a:solidFill>
                <a:effectLst/>
                <a:latin typeface="Arial" panose="020B0604020202020204" pitchFamily="34" charset="0"/>
                <a:cs typeface="Arial" panose="020B0604020202020204" pitchFamily="34" charset="0"/>
              </a:rPr>
              <a:t>Purpose and objectives</a:t>
            </a:r>
            <a:endParaRPr lang="en-US" sz="3200" b="0" i="0" u="none" strike="noStrike" dirty="0">
              <a:solidFill>
                <a:srgbClr val="000000"/>
              </a:solidFill>
              <a:effectLst/>
              <a:latin typeface="Arial" panose="020B0604020202020204" pitchFamily="34" charset="0"/>
              <a:cs typeface="Arial" panose="020B0604020202020204" pitchFamily="34" charset="0"/>
            </a:endParaRPr>
          </a:p>
          <a:p>
            <a:r>
              <a:rPr lang="en-US" sz="2500" b="0" i="0" u="none" strike="noStrike" dirty="0">
                <a:solidFill>
                  <a:srgbClr val="000000"/>
                </a:solidFill>
                <a:effectLst/>
                <a:latin typeface="Arial" panose="020B0604020202020204" pitchFamily="34" charset="0"/>
                <a:cs typeface="Arial" panose="020B0604020202020204" pitchFamily="34" charset="0"/>
              </a:rPr>
              <a:t>To investigate the dynamics of U.S. gasoline pricing using 26 years of publicly available data — specifically examining price pass-through speed, regional disparities, and predictability. </a:t>
            </a:r>
          </a:p>
          <a:p>
            <a:r>
              <a:rPr lang="en-US" sz="2500" dirty="0">
                <a:solidFill>
                  <a:srgbClr val="000000"/>
                </a:solidFill>
                <a:latin typeface="Arial" panose="020B0604020202020204" pitchFamily="34" charset="0"/>
                <a:cs typeface="Arial" panose="020B0604020202020204" pitchFamily="34" charset="0"/>
              </a:rPr>
              <a:t>We answer 3 main research questions: </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Q1: Do gas prices rise faster than they fall, and by how much?</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Q2: Which U.S. regions are most vulnerable to price shocks?</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Q3: Can supply chain signals predict next-week gas price movements?</a:t>
            </a:r>
          </a:p>
          <a:p>
            <a:pPr marL="457200" indent="-457200">
              <a:buFont typeface="Arial" panose="020B0604020202020204" pitchFamily="34" charset="0"/>
              <a:buChar char="•"/>
            </a:pPr>
            <a:endParaRPr lang="en-US" sz="2500" b="0" i="0" u="none" strike="noStrike" dirty="0">
              <a:solidFill>
                <a:srgbClr val="000000"/>
              </a:solidFill>
              <a:effectLst/>
              <a:latin typeface="Arial" panose="020B0604020202020204" pitchFamily="34" charset="0"/>
              <a:cs typeface="Arial" panose="020B0604020202020204" pitchFamily="34" charset="0"/>
            </a:endParaRPr>
          </a:p>
          <a:p>
            <a:r>
              <a:rPr lang="en-US" sz="3200" b="1" dirty="0">
                <a:solidFill>
                  <a:srgbClr val="000000"/>
                </a:solidFill>
                <a:latin typeface="Arial" panose="020B0604020202020204" pitchFamily="34" charset="0"/>
                <a:cs typeface="Arial" panose="020B0604020202020204" pitchFamily="34" charset="0"/>
              </a:rPr>
              <a:t>About the data set</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EIA API: Retail gas prices (5 PADD regions), spot/wholesale prices, refinery utilization, gasoline stocks, crude oil futures — 5 datasets</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FRED API: WTI &amp; Brent crude oil, USD index, CPI, consumer sentiment, federal funds rate, weekly gas price — 7 series</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Coverage: Weekly frequency, 2000–2026, ~1,300 observations</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Merged into one master dataset with 30+ engineered features</a:t>
            </a: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9A27AEAF-7D0B-A2C8-8E8B-2F8F129B10F6}"/>
              </a:ext>
            </a:extLst>
          </p:cNvPr>
          <p:cNvSpPr txBox="1"/>
          <p:nvPr/>
        </p:nvSpPr>
        <p:spPr>
          <a:xfrm>
            <a:off x="421690" y="23428488"/>
            <a:ext cx="10704578" cy="9140964"/>
          </a:xfrm>
          <a:prstGeom prst="rect">
            <a:avLst/>
          </a:prstGeom>
          <a:noFill/>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500" b="1" i="0" strike="noStrike" dirty="0">
                <a:solidFill>
                  <a:schemeClr val="accent1">
                    <a:lumMod val="50000"/>
                  </a:schemeClr>
                </a:solidFill>
                <a:effectLst/>
                <a:latin typeface="Book Antiqua" panose="02040602050305030304" pitchFamily="18" charset="0"/>
                <a:cs typeface="Arial" panose="020B0604020202020204" pitchFamily="34" charset="0"/>
              </a:rPr>
              <a:t>ME</a:t>
            </a:r>
            <a:r>
              <a:rPr lang="en-US" sz="3500" b="1" dirty="0">
                <a:solidFill>
                  <a:schemeClr val="accent1">
                    <a:lumMod val="50000"/>
                  </a:schemeClr>
                </a:solidFill>
                <a:latin typeface="Book Antiqua" panose="02040602050305030304" pitchFamily="18" charset="0"/>
                <a:cs typeface="Arial" panose="020B0604020202020204" pitchFamily="34" charset="0"/>
              </a:rPr>
              <a:t>THODOLOGY</a:t>
            </a:r>
          </a:p>
          <a:p>
            <a:pPr marL="342900" indent="-3429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The weekly master dataset combines 5 EIA and 7 FRED series into 1,370 weeks of data (2000–2026) with 55 variables covering retail gasoline, crude oil, spot prices, refinery utilization, inventories, futures, and macroeconomic indicators. </a:t>
            </a:r>
          </a:p>
          <a:p>
            <a:pPr marL="342900" indent="-3429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The analysis proceeds in three stages: (1) exploratory analysis of national and regional pricing patterns across 5 PADD districts, (2) event analysis of 19 major shocks across 4 categories, and (3) forecasting of next-week gasoline price changes using 7 competing models. </a:t>
            </a:r>
          </a:p>
          <a:p>
            <a:pPr marL="342900" indent="-3429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84 derived features were engineered — including lagged changes, moving average deviations, crack spreads, 52-week position, momentum, volatility, futures spreads, and seasonal flags. After screening, 75 predictors were retained. The final sample: 962 observations, split 910 train / 52 test using strict temporal ordering to prevent data leakage.</a:t>
            </a:r>
          </a:p>
          <a:p>
            <a:pPr marL="342900" indent="-3429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Directional accuracy:</a:t>
            </a:r>
            <a:endParaRPr lang="en-US" sz="2500" dirty="0">
              <a:solidFill>
                <a:srgbClr val="000000"/>
              </a:solidFill>
              <a:latin typeface="Arial" panose="020B0604020202020204" pitchFamily="34" charset="0"/>
              <a:cs typeface="Arial" panose="020B0604020202020204" pitchFamily="34" charset="0"/>
            </a:endParaRPr>
          </a:p>
          <a:p>
            <a:pPr algn="l"/>
            <a:endParaRPr lang="en-US" sz="2500" dirty="0">
              <a:solidFill>
                <a:srgbClr val="000000"/>
              </a:solidFill>
              <a:latin typeface="Arial" panose="020B0604020202020204" pitchFamily="34" charset="0"/>
              <a:cs typeface="Arial" panose="020B0604020202020204" pitchFamily="34" charset="0"/>
            </a:endParaRPr>
          </a:p>
          <a:p>
            <a:pPr algn="l"/>
            <a:endParaRPr lang="en-US" sz="2500" dirty="0">
              <a:solidFill>
                <a:srgbClr val="000000"/>
              </a:solidFill>
              <a:latin typeface="Arial" panose="020B0604020202020204" pitchFamily="34" charset="0"/>
              <a:cs typeface="Arial" panose="020B0604020202020204" pitchFamily="34" charset="0"/>
            </a:endParaRPr>
          </a:p>
          <a:p>
            <a:pPr algn="ctr"/>
            <a:r>
              <a:rPr lang="en-US" sz="1600" dirty="0">
                <a:solidFill>
                  <a:srgbClr val="000000"/>
                </a:solidFill>
                <a:latin typeface="Arial" panose="020B0604020202020204" pitchFamily="34" charset="0"/>
                <a:cs typeface="Arial" panose="020B0604020202020204" pitchFamily="34" charset="0"/>
              </a:rPr>
              <a:t> </a:t>
            </a:r>
            <a:r>
              <a:rPr lang="en-US" sz="1600" b="0" i="0" u="none" strike="noStrike" dirty="0">
                <a:solidFill>
                  <a:srgbClr val="000000"/>
                </a:solidFill>
                <a:effectLst/>
                <a:latin typeface="Arial" panose="020B0604020202020204" pitchFamily="34" charset="0"/>
                <a:cs typeface="Arial" panose="020B0604020202020204" pitchFamily="34" charset="0"/>
              </a:rPr>
              <a:t> </a:t>
            </a:r>
          </a:p>
          <a:p>
            <a:pPr algn="ctr"/>
            <a:endParaRPr lang="en-US" sz="1600" dirty="0">
              <a:solidFill>
                <a:srgbClr val="000000"/>
              </a:solidFill>
              <a:latin typeface="Arial" panose="020B0604020202020204" pitchFamily="34" charset="0"/>
              <a:cs typeface="Arial" panose="020B0604020202020204" pitchFamily="34" charset="0"/>
            </a:endParaRPr>
          </a:p>
          <a:p>
            <a:pPr algn="ctr"/>
            <a:endParaRPr lang="en-US" sz="1600" b="0" i="0" u="none" strike="noStrike" dirty="0">
              <a:solidFill>
                <a:srgbClr val="000000"/>
              </a:solidFill>
              <a:effectLst/>
              <a:latin typeface="Arial" panose="020B0604020202020204" pitchFamily="34" charset="0"/>
              <a:cs typeface="Arial" panose="020B0604020202020204" pitchFamily="34" charset="0"/>
            </a:endParaRPr>
          </a:p>
          <a:p>
            <a:pPr algn="ctr"/>
            <a:r>
              <a:rPr lang="en-US" sz="1600" dirty="0">
                <a:solidFill>
                  <a:srgbClr val="000000"/>
                </a:solidFill>
                <a:latin typeface="Arial" panose="020B0604020202020204" pitchFamily="34" charset="0"/>
                <a:cs typeface="Arial" panose="020B0604020202020204" pitchFamily="34" charset="0"/>
              </a:rPr>
              <a:t>t</a:t>
            </a:r>
            <a:r>
              <a:rPr lang="en-US" sz="2000" b="0" i="0" u="none" strike="noStrike" dirty="0">
                <a:solidFill>
                  <a:srgbClr val="000000"/>
                </a:solidFill>
                <a:effectLst/>
                <a:latin typeface="Arial" panose="020B0604020202020204" pitchFamily="34" charset="0"/>
                <a:cs typeface="Arial" panose="020B0604020202020204" pitchFamily="34" charset="0"/>
              </a:rPr>
              <a:t>his formula is used to measu</a:t>
            </a:r>
            <a:r>
              <a:rPr lang="en-US" sz="2000" dirty="0">
                <a:solidFill>
                  <a:srgbClr val="000000"/>
                </a:solidFill>
                <a:latin typeface="Arial" panose="020B0604020202020204" pitchFamily="34" charset="0"/>
                <a:cs typeface="Arial" panose="020B0604020202020204" pitchFamily="34" charset="0"/>
              </a:rPr>
              <a:t>re the model's performance.</a:t>
            </a:r>
          </a:p>
          <a:p>
            <a:pPr algn="ctr"/>
            <a:endParaRPr lang="en-US" sz="2000" dirty="0">
              <a:solidFill>
                <a:srgbClr val="000000"/>
              </a:solidFill>
              <a:latin typeface="Arial" panose="020B0604020202020204" pitchFamily="34" charset="0"/>
              <a:cs typeface="Arial" panose="020B0604020202020204" pitchFamily="34" charset="0"/>
            </a:endParaRPr>
          </a:p>
          <a:p>
            <a:pPr algn="ctr"/>
            <a:endParaRPr lang="en-US" sz="2000" b="1" dirty="0">
              <a:solidFill>
                <a:srgbClr val="000000"/>
              </a:solidFill>
              <a:latin typeface="Arial" panose="020B0604020202020204" pitchFamily="34" charset="0"/>
              <a:cs typeface="Arial" panose="020B0604020202020204" pitchFamily="34" charset="0"/>
            </a:endParaRPr>
          </a:p>
        </p:txBody>
      </p:sp>
      <p:pic>
        <p:nvPicPr>
          <p:cNvPr id="23" name="Picture 22" descr="A map of the united states&#10;&#10;Description automatically generated">
            <a:extLst>
              <a:ext uri="{FF2B5EF4-FFF2-40B4-BE49-F238E27FC236}">
                <a16:creationId xmlns:a16="http://schemas.microsoft.com/office/drawing/2014/main" id="{617AB630-B1D0-C600-13E1-6857C6895A2E}"/>
              </a:ext>
            </a:extLst>
          </p:cNvPr>
          <p:cNvPicPr>
            <a:picLocks noChangeAspect="1"/>
          </p:cNvPicPr>
          <p:nvPr/>
        </p:nvPicPr>
        <p:blipFill>
          <a:blip r:embed="rId3"/>
          <a:stretch>
            <a:fillRect/>
          </a:stretch>
        </p:blipFill>
        <p:spPr>
          <a:xfrm>
            <a:off x="13188652" y="11007051"/>
            <a:ext cx="7951259" cy="5038999"/>
          </a:xfrm>
          <a:prstGeom prst="rect">
            <a:avLst/>
          </a:prstGeom>
        </p:spPr>
      </p:pic>
      <p:sp>
        <p:nvSpPr>
          <p:cNvPr id="26" name="TextBox 25">
            <a:extLst>
              <a:ext uri="{FF2B5EF4-FFF2-40B4-BE49-F238E27FC236}">
                <a16:creationId xmlns:a16="http://schemas.microsoft.com/office/drawing/2014/main" id="{3C6E32D4-B6BF-DBF1-1119-19A26C02EF98}"/>
              </a:ext>
            </a:extLst>
          </p:cNvPr>
          <p:cNvSpPr txBox="1"/>
          <p:nvPr/>
        </p:nvSpPr>
        <p:spPr>
          <a:xfrm>
            <a:off x="11379019" y="3007513"/>
            <a:ext cx="10704578" cy="29561939"/>
          </a:xfrm>
          <a:prstGeom prst="rect">
            <a:avLst/>
          </a:prstGeom>
          <a:noFill/>
          <a:ln>
            <a:solidFill>
              <a:schemeClr val="accent1"/>
            </a:solidFill>
          </a:ln>
        </p:spPr>
        <p:txBody>
          <a:bodyPr wrap="square" rtlCol="0">
            <a:spAutoFit/>
          </a:bodyPr>
          <a:lstStyle/>
          <a:p>
            <a:pPr algn="ctr"/>
            <a:r>
              <a:rPr lang="en-US" sz="3500" b="1" dirty="0">
                <a:solidFill>
                  <a:schemeClr val="accent1">
                    <a:lumMod val="50000"/>
                  </a:schemeClr>
                </a:solidFill>
                <a:latin typeface="Book Antiqua" panose="02040602050305030304" pitchFamily="18" charset="0"/>
                <a:cs typeface="Arial" panose="020B0604020202020204" pitchFamily="34" charset="0"/>
              </a:rPr>
              <a:t>DATA EXPLORATION</a:t>
            </a:r>
          </a:p>
          <a:p>
            <a:r>
              <a:rPr lang="en-US" sz="3200" b="1" dirty="0">
                <a:solidFill>
                  <a:srgbClr val="000000"/>
                </a:solidFill>
                <a:latin typeface="Arial" panose="020B0604020202020204" pitchFamily="34" charset="0"/>
                <a:cs typeface="Arial" panose="020B0604020202020204" pitchFamily="34" charset="0"/>
              </a:rPr>
              <a:t>Baseline Market Patterns</a:t>
            </a:r>
          </a:p>
          <a:p>
            <a:r>
              <a:rPr lang="en-US" sz="2500" b="0" i="0" u="none" strike="noStrike" dirty="0">
                <a:solidFill>
                  <a:srgbClr val="000000"/>
                </a:solidFill>
                <a:effectLst/>
                <a:latin typeface="Arial" panose="020B0604020202020204" pitchFamily="34" charset="0"/>
                <a:cs typeface="Arial" panose="020B0604020202020204" pitchFamily="34" charset="0"/>
              </a:rPr>
              <a:t>This section examines the baseline structure of U.S. gasoline prices using weekly data on retail gasoline, crude oil, regional prices, inventories, and refinery conditions. It focuses on how upstream oil markets drive pump prices and how that relationship differs across regions.</a:t>
            </a:r>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800" b="0" i="0" u="none" strike="noStrike" dirty="0">
              <a:solidFill>
                <a:srgbClr val="000000"/>
              </a:solidFill>
              <a:effectLst/>
              <a:latin typeface="-webkit-standard"/>
            </a:endParaRPr>
          </a:p>
          <a:p>
            <a:endParaRPr lang="en-US" sz="2800" dirty="0">
              <a:solidFill>
                <a:srgbClr val="000000"/>
              </a:solidFill>
              <a:latin typeface="-webkit-standard"/>
            </a:endParaRPr>
          </a:p>
          <a:p>
            <a:endParaRPr lang="en-US" sz="2800" b="0" i="0" u="none" strike="noStrike" dirty="0">
              <a:solidFill>
                <a:srgbClr val="000000"/>
              </a:solidFill>
              <a:effectLst/>
              <a:latin typeface="-webkit-standard"/>
            </a:endParaRPr>
          </a:p>
          <a:p>
            <a:endParaRPr lang="en-US" sz="2800" dirty="0">
              <a:solidFill>
                <a:srgbClr val="000000"/>
              </a:solidFill>
              <a:latin typeface="-webkit-standard"/>
            </a:endParaRPr>
          </a:p>
          <a:p>
            <a:endParaRPr lang="en-US" sz="2800" b="0" i="0" u="none" strike="noStrike" dirty="0">
              <a:solidFill>
                <a:srgbClr val="000000"/>
              </a:solidFill>
              <a:effectLst/>
              <a:latin typeface="-webkit-standard"/>
            </a:endParaRPr>
          </a:p>
          <a:p>
            <a:r>
              <a:rPr lang="en-US" sz="2500" b="0" i="0" u="none" strike="noStrike" dirty="0">
                <a:solidFill>
                  <a:srgbClr val="000000"/>
                </a:solidFill>
                <a:effectLst/>
                <a:latin typeface="Arial" panose="020B0604020202020204" pitchFamily="34" charset="0"/>
                <a:cs typeface="Arial" panose="020B0604020202020204" pitchFamily="34" charset="0"/>
              </a:rPr>
              <a:t>Retail gasoline broadly tracks crude oil, confirming that upstream energy markets are the main driver of pump prices. However, the relationship is not one-to-one, indicating that refinery margins, inventories, seasonality, and market tightness also shape price formation.</a:t>
            </a:r>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r>
              <a:rPr lang="en-US" sz="2500" b="0" i="0" u="none" strike="noStrike" dirty="0">
                <a:solidFill>
                  <a:srgbClr val="000000"/>
                </a:solidFill>
                <a:effectLst/>
                <a:latin typeface="Arial" panose="020B0604020202020204" pitchFamily="34" charset="0"/>
                <a:cs typeface="Arial" panose="020B0604020202020204" pitchFamily="34" charset="0"/>
              </a:rPr>
              <a:t>Regional gasoline prices are not uniform. Persistent PADD price premiums reflect structural differences in refining, distribution, and supply access, causing national shocks to reach local consumers with different intensity.</a:t>
            </a:r>
          </a:p>
          <a:p>
            <a:endParaRPr lang="en-US" sz="2800" b="0" i="0" u="none" strike="noStrike" dirty="0">
              <a:solidFill>
                <a:srgbClr val="000000"/>
              </a:solidFill>
              <a:effectLst/>
              <a:latin typeface="-webkit-standard"/>
            </a:endParaRPr>
          </a:p>
          <a:p>
            <a:r>
              <a:rPr lang="en-US" sz="3200" b="1" i="0" u="none" strike="noStrike" dirty="0">
                <a:solidFill>
                  <a:srgbClr val="000000"/>
                </a:solidFill>
                <a:effectLst/>
                <a:latin typeface="Arial" panose="020B0604020202020204" pitchFamily="34" charset="0"/>
                <a:cs typeface="Arial" panose="020B0604020202020204" pitchFamily="34" charset="0"/>
              </a:rPr>
              <a:t>Major Shock Analysis</a:t>
            </a:r>
          </a:p>
          <a:p>
            <a:r>
              <a:rPr lang="en-US" sz="2500" b="0" i="0" u="none" strike="noStrike" dirty="0">
                <a:solidFill>
                  <a:srgbClr val="000000"/>
                </a:solidFill>
                <a:effectLst/>
                <a:latin typeface="Arial" panose="020B0604020202020204" pitchFamily="34" charset="0"/>
                <a:cs typeface="Arial" panose="020B0604020202020204" pitchFamily="34" charset="0"/>
              </a:rPr>
              <a:t>This section compares how major shocks affected U.S. gasoline prices in terms of </a:t>
            </a:r>
            <a:r>
              <a:rPr lang="en-US" sz="2500" b="1" i="0" u="none" strike="noStrike" dirty="0">
                <a:solidFill>
                  <a:srgbClr val="000000"/>
                </a:solidFill>
                <a:effectLst/>
                <a:latin typeface="Arial" panose="020B0604020202020204" pitchFamily="34" charset="0"/>
                <a:cs typeface="Arial" panose="020B0604020202020204" pitchFamily="34" charset="0"/>
              </a:rPr>
              <a:t>direction, magnitude, speed, and persistence</a:t>
            </a:r>
            <a:r>
              <a:rPr lang="en-US" sz="2500" b="0" i="0" u="none" strike="noStrike" dirty="0">
                <a:solidFill>
                  <a:srgbClr val="000000"/>
                </a:solidFill>
                <a:effectLst/>
                <a:latin typeface="Arial" panose="020B0604020202020204" pitchFamily="34" charset="0"/>
                <a:cs typeface="Arial" panose="020B0604020202020204" pitchFamily="34" charset="0"/>
              </a:rPr>
              <a:t>. Supply and geopolitical shocks produced the sharpest upward spikes, while demand-driven crises caused rapid declines followed by slower recoveries.</a:t>
            </a:r>
          </a:p>
          <a:p>
            <a:endParaRPr lang="en-US" sz="2500" dirty="0">
              <a:solidFill>
                <a:srgbClr val="000000"/>
              </a:solidFill>
              <a:latin typeface="Arial" panose="020B0604020202020204" pitchFamily="34" charset="0"/>
              <a:cs typeface="Arial" panose="020B0604020202020204" pitchFamily="34" charset="0"/>
            </a:endParaRPr>
          </a:p>
          <a:p>
            <a:endParaRPr lang="en-US" sz="250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i="0" u="none" strike="noStrike" dirty="0">
              <a:solidFill>
                <a:srgbClr val="000000"/>
              </a:solidFill>
              <a:effectLst/>
              <a:latin typeface="Arial" panose="020B0604020202020204" pitchFamily="34" charset="0"/>
              <a:cs typeface="Arial" panose="020B0604020202020204" pitchFamily="34" charset="0"/>
            </a:endParaRPr>
          </a:p>
          <a:p>
            <a:endParaRPr lang="en-US" sz="2500" i="0" u="none" strike="noStrike" dirty="0">
              <a:solidFill>
                <a:srgbClr val="000000"/>
              </a:solidFill>
              <a:effectLst/>
              <a:latin typeface="Arial" panose="020B0604020202020204" pitchFamily="34" charset="0"/>
              <a:cs typeface="Arial" panose="020B0604020202020204" pitchFamily="34" charset="0"/>
            </a:endParaRPr>
          </a:p>
          <a:p>
            <a:endParaRPr lang="en-US" sz="2800" dirty="0">
              <a:solidFill>
                <a:srgbClr val="000000"/>
              </a:solidFill>
              <a:latin typeface="-webkit-standard"/>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pPr algn="ctr"/>
            <a:endParaRPr lang="en-US" sz="2500" dirty="0">
              <a:solidFill>
                <a:srgbClr val="000000"/>
              </a:solidFill>
              <a:latin typeface="Arial" panose="020B0604020202020204" pitchFamily="34" charset="0"/>
              <a:cs typeface="Arial" panose="020B0604020202020204" pitchFamily="34" charset="0"/>
            </a:endParaRPr>
          </a:p>
          <a:p>
            <a:pPr algn="ctr"/>
            <a:r>
              <a:rPr lang="en-US" sz="2800" b="0" i="0" u="none" strike="noStrike" dirty="0">
                <a:solidFill>
                  <a:srgbClr val="000000"/>
                </a:solidFill>
                <a:effectLst/>
                <a:latin typeface="-webkit-standard"/>
              </a:rPr>
              <a:t>How Major Crises Affected U.S. Gasoline Prices</a:t>
            </a:r>
          </a:p>
          <a:p>
            <a:r>
              <a:rPr lang="en-US" sz="2800" i="0" u="none" strike="noStrike" dirty="0">
                <a:solidFill>
                  <a:srgbClr val="000000"/>
                </a:solidFill>
                <a:effectLst/>
                <a:latin typeface="Arial" panose="020B0604020202020204" pitchFamily="34" charset="0"/>
                <a:cs typeface="Arial" panose="020B0604020202020204" pitchFamily="34" charset="0"/>
              </a:rPr>
              <a:t>I also </a:t>
            </a:r>
            <a:r>
              <a:rPr lang="en-US" sz="2800" b="0" i="0" u="none" strike="noStrike" dirty="0">
                <a:solidFill>
                  <a:srgbClr val="000000"/>
                </a:solidFill>
                <a:effectLst/>
                <a:latin typeface="Arial" panose="020B0604020202020204" pitchFamily="34" charset="0"/>
                <a:cs typeface="Arial" panose="020B0604020202020204" pitchFamily="34" charset="0"/>
              </a:rPr>
              <a:t>compare gasoline-price responses across major crises using a common event-time framework. The comparison focuses on the size, speed, and persistence of the response following each shock.</a:t>
            </a:r>
            <a:endParaRPr lang="en-US" sz="2800" b="1" i="0" u="none" strike="noStrike" dirty="0">
              <a:solidFill>
                <a:srgbClr val="000000"/>
              </a:solidFill>
              <a:effectLst/>
              <a:latin typeface="Arial" panose="020B0604020202020204" pitchFamily="34" charset="0"/>
              <a:cs typeface="Arial" panose="020B0604020202020204" pitchFamily="34" charset="0"/>
            </a:endParaRPr>
          </a:p>
          <a:p>
            <a:endParaRPr lang="en-US" sz="2800" b="0" i="0" u="none" strike="noStrike" dirty="0">
              <a:solidFill>
                <a:srgbClr val="000000"/>
              </a:solidFill>
              <a:effectLst/>
              <a:latin typeface="-webkit-standard"/>
            </a:endParaRPr>
          </a:p>
          <a:p>
            <a:endParaRPr lang="en-US" sz="2800" dirty="0">
              <a:solidFill>
                <a:srgbClr val="000000"/>
              </a:solidFill>
              <a:latin typeface="-webkit-standard"/>
            </a:endParaRPr>
          </a:p>
          <a:p>
            <a:endParaRPr lang="en-US" sz="2800" b="0" i="0" u="none" strike="noStrike" dirty="0">
              <a:solidFill>
                <a:srgbClr val="000000"/>
              </a:solidFill>
              <a:effectLst/>
              <a:latin typeface="-webkit-standard"/>
            </a:endParaRPr>
          </a:p>
          <a:p>
            <a:endParaRPr lang="en-US" sz="2800" dirty="0">
              <a:solidFill>
                <a:srgbClr val="000000"/>
              </a:solidFill>
              <a:latin typeface="-webkit-standard"/>
            </a:endParaRPr>
          </a:p>
          <a:p>
            <a:endParaRPr lang="en-US" sz="2800" b="0" i="0" u="none" strike="noStrike" dirty="0">
              <a:solidFill>
                <a:srgbClr val="000000"/>
              </a:solidFill>
              <a:effectLst/>
              <a:latin typeface="-webkit-standard"/>
            </a:endParaRPr>
          </a:p>
          <a:p>
            <a:endParaRPr lang="en-US" sz="2800" b="0" i="0" u="none" strike="noStrike" dirty="0">
              <a:solidFill>
                <a:srgbClr val="000000"/>
              </a:solidFill>
              <a:effectLst/>
              <a:latin typeface="-webkit-standard"/>
            </a:endParaRPr>
          </a:p>
          <a:p>
            <a:pPr algn="ctr"/>
            <a:endParaRPr lang="en-US" sz="2800" dirty="0">
              <a:solidFill>
                <a:srgbClr val="000000"/>
              </a:solidFill>
              <a:latin typeface="-webkit-standard"/>
            </a:endParaRPr>
          </a:p>
          <a:p>
            <a:pPr algn="ctr"/>
            <a:endParaRPr lang="en-US" sz="2800" dirty="0">
              <a:solidFill>
                <a:srgbClr val="000000"/>
              </a:solidFill>
              <a:latin typeface="-webkit-standard"/>
            </a:endParaRPr>
          </a:p>
          <a:p>
            <a:pPr algn="ctr"/>
            <a:endParaRPr lang="en-US" sz="2800" b="0" i="0" u="none" strike="noStrike" dirty="0">
              <a:solidFill>
                <a:srgbClr val="000000"/>
              </a:solidFill>
              <a:effectLst/>
              <a:latin typeface="-webkit-standard"/>
            </a:endParaRPr>
          </a:p>
          <a:p>
            <a:pPr algn="ctr"/>
            <a:endParaRPr lang="en-US" sz="2800" b="0" i="0" u="none" strike="noStrike" dirty="0">
              <a:solidFill>
                <a:srgbClr val="000000"/>
              </a:solidFill>
              <a:effectLst/>
              <a:latin typeface="-webkit-standard"/>
            </a:endParaRPr>
          </a:p>
        </p:txBody>
      </p:sp>
      <p:pic>
        <p:nvPicPr>
          <p:cNvPr id="28" name="Picture 27" descr="A graph of the stock market&#10;&#10;Description automatically generated">
            <a:extLst>
              <a:ext uri="{FF2B5EF4-FFF2-40B4-BE49-F238E27FC236}">
                <a16:creationId xmlns:a16="http://schemas.microsoft.com/office/drawing/2014/main" id="{F9B5EED8-69E7-5C1C-C2D1-66AFB268CD6C}"/>
              </a:ext>
            </a:extLst>
          </p:cNvPr>
          <p:cNvPicPr>
            <a:picLocks noChangeAspect="1"/>
          </p:cNvPicPr>
          <p:nvPr/>
        </p:nvPicPr>
        <p:blipFill>
          <a:blip r:embed="rId4"/>
          <a:stretch>
            <a:fillRect/>
          </a:stretch>
        </p:blipFill>
        <p:spPr>
          <a:xfrm>
            <a:off x="11702107" y="19847433"/>
            <a:ext cx="10058399" cy="5924771"/>
          </a:xfrm>
          <a:prstGeom prst="rect">
            <a:avLst/>
          </a:prstGeom>
        </p:spPr>
      </p:pic>
      <p:pic>
        <p:nvPicPr>
          <p:cNvPr id="30" name="Picture 29" descr="A graph showing the price of oil and retail gasoline prices&#10;&#10;Description automatically generated">
            <a:extLst>
              <a:ext uri="{FF2B5EF4-FFF2-40B4-BE49-F238E27FC236}">
                <a16:creationId xmlns:a16="http://schemas.microsoft.com/office/drawing/2014/main" id="{9CFE8A31-B34A-4C2A-BA17-7C4380F0F067}"/>
              </a:ext>
            </a:extLst>
          </p:cNvPr>
          <p:cNvPicPr>
            <a:picLocks noChangeAspect="1"/>
          </p:cNvPicPr>
          <p:nvPr/>
        </p:nvPicPr>
        <p:blipFill>
          <a:blip r:embed="rId5"/>
          <a:stretch>
            <a:fillRect/>
          </a:stretch>
        </p:blipFill>
        <p:spPr>
          <a:xfrm>
            <a:off x="11648970" y="5598001"/>
            <a:ext cx="10164675" cy="3756122"/>
          </a:xfrm>
          <a:prstGeom prst="rect">
            <a:avLst/>
          </a:prstGeom>
        </p:spPr>
      </p:pic>
      <p:sp>
        <p:nvSpPr>
          <p:cNvPr id="33" name="TextBox 32">
            <a:extLst>
              <a:ext uri="{FF2B5EF4-FFF2-40B4-BE49-F238E27FC236}">
                <a16:creationId xmlns:a16="http://schemas.microsoft.com/office/drawing/2014/main" id="{8B628C9E-3482-FFB4-E313-293A220B45A4}"/>
              </a:ext>
            </a:extLst>
          </p:cNvPr>
          <p:cNvSpPr txBox="1"/>
          <p:nvPr/>
        </p:nvSpPr>
        <p:spPr>
          <a:xfrm>
            <a:off x="22389934" y="3034162"/>
            <a:ext cx="10704578" cy="114646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a:solidFill>
                  <a:schemeClr val="accent1">
                    <a:lumMod val="50000"/>
                  </a:schemeClr>
                </a:solidFill>
                <a:latin typeface="Book Antiqua" panose="02040602050305030304" pitchFamily="18" charset="0"/>
                <a:cs typeface="Arial" panose="020B0604020202020204" pitchFamily="34" charset="0"/>
              </a:rPr>
              <a:t>DATA EXPLORATION</a:t>
            </a:r>
          </a:p>
          <a:p>
            <a:r>
              <a:rPr lang="en-US" sz="3200" b="1" i="0" u="none" strike="noStrike" dirty="0">
                <a:solidFill>
                  <a:srgbClr val="000000"/>
                </a:solidFill>
                <a:effectLst/>
                <a:latin typeface="Arial" panose="020B0604020202020204" pitchFamily="34" charset="0"/>
                <a:cs typeface="Arial" panose="020B0604020202020204" pitchFamily="34" charset="0"/>
              </a:rPr>
              <a:t>Rockets &amp; Feathers Test</a:t>
            </a:r>
          </a:p>
          <a:p>
            <a:r>
              <a:rPr lang="en-US" sz="2500" b="0" i="0" u="none" strike="noStrike" dirty="0">
                <a:solidFill>
                  <a:srgbClr val="000000"/>
                </a:solidFill>
                <a:effectLst/>
                <a:latin typeface="Arial" panose="020B0604020202020204" pitchFamily="34" charset="0"/>
                <a:cs typeface="Arial" panose="020B0604020202020204" pitchFamily="34" charset="0"/>
              </a:rPr>
              <a:t>To test whether gas prices respond asymmetrically to crude oil changes, we split crude price movements into positive and negative components and estimate separate pass-through slopes:</a:t>
            </a: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r>
              <a:rPr lang="en-US" sz="2500" b="0" i="0" u="none" strike="noStrike" dirty="0">
                <a:solidFill>
                  <a:srgbClr val="000000"/>
                </a:solidFill>
                <a:effectLst/>
                <a:latin typeface="Arial" panose="020B0604020202020204" pitchFamily="34" charset="0"/>
                <a:cs typeface="Arial" panose="020B0604020202020204" pitchFamily="34" charset="0"/>
              </a:rPr>
              <a:t>If </a:t>
            </a:r>
            <a:r>
              <a:rPr lang="el-GR" sz="2500" b="0" i="0" u="none" strike="noStrike" dirty="0">
                <a:solidFill>
                  <a:srgbClr val="000000"/>
                </a:solidFill>
                <a:effectLst/>
                <a:latin typeface="Arial" panose="020B0604020202020204" pitchFamily="34" charset="0"/>
                <a:cs typeface="Arial" panose="020B0604020202020204" pitchFamily="34" charset="0"/>
              </a:rPr>
              <a:t>β₁ &gt; β₂, </a:t>
            </a:r>
            <a:r>
              <a:rPr lang="en-US" sz="2500" b="0" i="0" u="none" strike="noStrike" dirty="0">
                <a:solidFill>
                  <a:srgbClr val="000000"/>
                </a:solidFill>
                <a:effectLst/>
                <a:latin typeface="Arial" panose="020B0604020202020204" pitchFamily="34" charset="0"/>
                <a:cs typeface="Arial" panose="020B0604020202020204" pitchFamily="34" charset="0"/>
              </a:rPr>
              <a:t>prices rise faster than they fall — confirming the "rockets and feathers" effect.</a:t>
            </a: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p:txBody>
      </p:sp>
      <p:pic>
        <p:nvPicPr>
          <p:cNvPr id="35" name="Picture 34" descr="A graph showing the price of oil&#10;&#10;Description automatically generated with medium confidence">
            <a:extLst>
              <a:ext uri="{FF2B5EF4-FFF2-40B4-BE49-F238E27FC236}">
                <a16:creationId xmlns:a16="http://schemas.microsoft.com/office/drawing/2014/main" id="{164D1129-98F2-B5C8-DDA8-129F03CF40D8}"/>
              </a:ext>
            </a:extLst>
          </p:cNvPr>
          <p:cNvPicPr>
            <a:picLocks noChangeAspect="1"/>
          </p:cNvPicPr>
          <p:nvPr/>
        </p:nvPicPr>
        <p:blipFill>
          <a:blip r:embed="rId6"/>
          <a:stretch>
            <a:fillRect/>
          </a:stretch>
        </p:blipFill>
        <p:spPr>
          <a:xfrm>
            <a:off x="11731546" y="27762135"/>
            <a:ext cx="9838634" cy="4756509"/>
          </a:xfrm>
          <a:prstGeom prst="rect">
            <a:avLst/>
          </a:prstGeom>
        </p:spPr>
      </p:pic>
      <p:pic>
        <p:nvPicPr>
          <p:cNvPr id="42" name="Picture 41" descr="A mathematical equation with a triangle and a triangle&#10;&#10;Description automatically generated with medium confidence">
            <a:extLst>
              <a:ext uri="{FF2B5EF4-FFF2-40B4-BE49-F238E27FC236}">
                <a16:creationId xmlns:a16="http://schemas.microsoft.com/office/drawing/2014/main" id="{2E450B42-6553-8F4B-BC8C-C92D872F84D3}"/>
              </a:ext>
            </a:extLst>
          </p:cNvPr>
          <p:cNvPicPr>
            <a:picLocks noChangeAspect="1"/>
          </p:cNvPicPr>
          <p:nvPr/>
        </p:nvPicPr>
        <p:blipFill>
          <a:blip r:embed="rId7"/>
          <a:stretch>
            <a:fillRect/>
          </a:stretch>
        </p:blipFill>
        <p:spPr>
          <a:xfrm>
            <a:off x="2020451" y="29910887"/>
            <a:ext cx="7501848" cy="1252223"/>
          </a:xfrm>
          <a:prstGeom prst="rect">
            <a:avLst/>
          </a:prstGeom>
        </p:spPr>
      </p:pic>
      <p:pic>
        <p:nvPicPr>
          <p:cNvPr id="46" name="Picture 45" descr="A screenshot of a graph&#10;&#10;Description automatically generated">
            <a:extLst>
              <a:ext uri="{FF2B5EF4-FFF2-40B4-BE49-F238E27FC236}">
                <a16:creationId xmlns:a16="http://schemas.microsoft.com/office/drawing/2014/main" id="{700D8A39-0159-5FB3-E6FE-BA378558483F}"/>
              </a:ext>
              <a:ext uri="{C183D7F6-B498-43B3-948B-1728B52AA6E4}">
                <adec:decorative xmlns:adec="http://schemas.microsoft.com/office/drawing/2017/decorative" val="0"/>
              </a:ext>
            </a:extLst>
          </p:cNvPr>
          <p:cNvPicPr>
            <a:picLocks noChangeAspect="1"/>
          </p:cNvPicPr>
          <p:nvPr/>
        </p:nvPicPr>
        <p:blipFill>
          <a:blip r:embed="rId8"/>
          <a:stretch>
            <a:fillRect/>
          </a:stretch>
        </p:blipFill>
        <p:spPr>
          <a:xfrm>
            <a:off x="22509341" y="7098748"/>
            <a:ext cx="10488235" cy="6174319"/>
          </a:xfrm>
          <a:prstGeom prst="rect">
            <a:avLst/>
          </a:prstGeom>
        </p:spPr>
      </p:pic>
      <p:sp>
        <p:nvSpPr>
          <p:cNvPr id="47" name="TextBox 46">
            <a:extLst>
              <a:ext uri="{FF2B5EF4-FFF2-40B4-BE49-F238E27FC236}">
                <a16:creationId xmlns:a16="http://schemas.microsoft.com/office/drawing/2014/main" id="{5003544C-36C7-EC47-7626-13FDA7048DD4}"/>
              </a:ext>
            </a:extLst>
          </p:cNvPr>
          <p:cNvSpPr txBox="1"/>
          <p:nvPr/>
        </p:nvSpPr>
        <p:spPr>
          <a:xfrm>
            <a:off x="22401170" y="14721721"/>
            <a:ext cx="10704578" cy="863313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500" b="1" i="0" u="none" strike="noStrike" dirty="0">
                <a:solidFill>
                  <a:schemeClr val="accent1">
                    <a:lumMod val="50000"/>
                  </a:schemeClr>
                </a:solidFill>
                <a:effectLst/>
                <a:latin typeface="Book Antiqua" panose="02040602050305030304" pitchFamily="18" charset="0"/>
              </a:rPr>
              <a:t>PREDICTIVE MODEL</a:t>
            </a:r>
          </a:p>
          <a:p>
            <a:r>
              <a:rPr lang="en-US" sz="2500" b="1" i="0" u="none" strike="noStrike" dirty="0">
                <a:solidFill>
                  <a:srgbClr val="000000"/>
                </a:solidFill>
                <a:effectLst/>
                <a:latin typeface="Arial" panose="020B0604020202020204" pitchFamily="34" charset="0"/>
                <a:cs typeface="Arial" panose="020B0604020202020204" pitchFamily="34" charset="0"/>
              </a:rPr>
              <a:t>7 models wer</a:t>
            </a:r>
            <a:r>
              <a:rPr lang="en-US" sz="2500" b="0" i="0" u="none" strike="noStrike" dirty="0">
                <a:solidFill>
                  <a:srgbClr val="000000"/>
                </a:solidFill>
                <a:effectLst/>
                <a:latin typeface="Arial" panose="020B0604020202020204" pitchFamily="34" charset="0"/>
                <a:cs typeface="Arial" panose="020B0604020202020204" pitchFamily="34" charset="0"/>
              </a:rPr>
              <a:t>e compared to predict next-week retail gasoline price change</a:t>
            </a: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endParaRPr lang="en-US" sz="3500" dirty="0">
              <a:latin typeface="Book Antiqua" panose="02040602050305030304" pitchFamily="18" charset="0"/>
            </a:endParaRPr>
          </a:p>
          <a:p>
            <a:r>
              <a:rPr lang="en-US" sz="2500" dirty="0">
                <a:latin typeface="Arial" panose="020B0604020202020204" pitchFamily="34" charset="0"/>
                <a:cs typeface="Arial" panose="020B0604020202020204" pitchFamily="34" charset="0"/>
              </a:rPr>
              <a:t>the chart shows that </a:t>
            </a:r>
            <a:r>
              <a:rPr lang="en-US" sz="2500" b="0" i="0" u="none" strike="noStrike" dirty="0">
                <a:solidFill>
                  <a:srgbClr val="000000"/>
                </a:solidFill>
                <a:effectLst/>
                <a:latin typeface="Arial" panose="020B0604020202020204" pitchFamily="34" charset="0"/>
                <a:cs typeface="Arial" panose="020B0604020202020204" pitchFamily="34" charset="0"/>
              </a:rPr>
              <a:t>Lasso Regression outperformed across all metrics.</a:t>
            </a:r>
            <a:endParaRPr lang="en-US" sz="3500" b="0" i="0" u="none" strike="noStrike" dirty="0">
              <a:solidFill>
                <a:srgbClr val="000000"/>
              </a:solidFill>
              <a:effectLst/>
              <a:latin typeface="Book Antiqua" panose="02040602050305030304" pitchFamily="18"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p:txBody>
      </p:sp>
      <p:pic>
        <p:nvPicPr>
          <p:cNvPr id="49" name="Picture 48" descr="A graph with green and red bars&#10;&#10;Description automatically generated">
            <a:extLst>
              <a:ext uri="{FF2B5EF4-FFF2-40B4-BE49-F238E27FC236}">
                <a16:creationId xmlns:a16="http://schemas.microsoft.com/office/drawing/2014/main" id="{D7D878C9-5EF3-140F-8D28-4E6EC91A845A}"/>
              </a:ext>
            </a:extLst>
          </p:cNvPr>
          <p:cNvPicPr>
            <a:picLocks noChangeAspect="1"/>
          </p:cNvPicPr>
          <p:nvPr/>
        </p:nvPicPr>
        <p:blipFill>
          <a:blip r:embed="rId9"/>
          <a:stretch>
            <a:fillRect/>
          </a:stretch>
        </p:blipFill>
        <p:spPr>
          <a:xfrm>
            <a:off x="22498105" y="15610756"/>
            <a:ext cx="10488235" cy="6480444"/>
          </a:xfrm>
          <a:prstGeom prst="rect">
            <a:avLst/>
          </a:prstGeom>
        </p:spPr>
      </p:pic>
      <p:sp>
        <p:nvSpPr>
          <p:cNvPr id="54" name="TextBox 53">
            <a:extLst>
              <a:ext uri="{FF2B5EF4-FFF2-40B4-BE49-F238E27FC236}">
                <a16:creationId xmlns:a16="http://schemas.microsoft.com/office/drawing/2014/main" id="{04D63BA9-1A67-CE16-B5FE-0CBA500D5703}"/>
              </a:ext>
            </a:extLst>
          </p:cNvPr>
          <p:cNvSpPr txBox="1"/>
          <p:nvPr/>
        </p:nvSpPr>
        <p:spPr>
          <a:xfrm>
            <a:off x="33482958" y="3034162"/>
            <a:ext cx="10016790" cy="640175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500" b="1" dirty="0">
                <a:solidFill>
                  <a:schemeClr val="accent1">
                    <a:lumMod val="50000"/>
                  </a:schemeClr>
                </a:solidFill>
                <a:latin typeface="Book Antiqua" panose="02040602050305030304" pitchFamily="18" charset="0"/>
              </a:rPr>
              <a:t>PREDICTION OUTPUT CONTINUED</a:t>
            </a:r>
          </a:p>
          <a:p>
            <a:r>
              <a:rPr lang="en-US" sz="2500" dirty="0">
                <a:solidFill>
                  <a:srgbClr val="000000"/>
                </a:solidFill>
                <a:latin typeface="Arial" panose="020B0604020202020204" pitchFamily="34" charset="0"/>
                <a:cs typeface="Arial" panose="020B0604020202020204" pitchFamily="34" charset="0"/>
              </a:rPr>
              <a:t>The strongest predictors are recent price momentum and wholesale market signals, with all key variables significant at p &lt; 0.05.</a:t>
            </a: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r>
              <a:rPr lang="en-US" sz="2500" b="0" i="0" u="none" strike="noStrike" dirty="0">
                <a:solidFill>
                  <a:srgbClr val="000000"/>
                </a:solidFill>
                <a:effectLst/>
                <a:latin typeface="Arial" panose="020B0604020202020204" pitchFamily="34" charset="0"/>
                <a:cs typeface="Arial" panose="020B0604020202020204" pitchFamily="34" charset="0"/>
              </a:rPr>
              <a:t>The model tracks actual gas prices across the full 52-week test period, capturing both the decline through late 2023 and the recovery into 2024. MAE = $0.033/gal, Directional Accuracy = 76.9%</a:t>
            </a:r>
            <a:endParaRPr lang="en-US" sz="2500" dirty="0">
              <a:solidFill>
                <a:schemeClr val="accent1">
                  <a:lumMod val="50000"/>
                </a:schemeClr>
              </a:solidFill>
              <a:latin typeface="Arial" panose="020B0604020202020204" pitchFamily="34" charset="0"/>
              <a:cs typeface="Arial" panose="020B0604020202020204" pitchFamily="34" charset="0"/>
            </a:endParaRPr>
          </a:p>
        </p:txBody>
      </p:sp>
      <p:pic>
        <p:nvPicPr>
          <p:cNvPr id="56" name="Picture 55">
            <a:extLst>
              <a:ext uri="{FF2B5EF4-FFF2-40B4-BE49-F238E27FC236}">
                <a16:creationId xmlns:a16="http://schemas.microsoft.com/office/drawing/2014/main" id="{93323C63-02AE-4541-11E4-A33E36803079}"/>
              </a:ext>
            </a:extLst>
          </p:cNvPr>
          <p:cNvPicPr>
            <a:picLocks noChangeAspect="1"/>
          </p:cNvPicPr>
          <p:nvPr/>
        </p:nvPicPr>
        <p:blipFill>
          <a:blip r:embed="rId10"/>
          <a:stretch>
            <a:fillRect/>
          </a:stretch>
        </p:blipFill>
        <p:spPr>
          <a:xfrm>
            <a:off x="22964608" y="5233031"/>
            <a:ext cx="9577700" cy="753800"/>
          </a:xfrm>
          <a:prstGeom prst="rect">
            <a:avLst/>
          </a:prstGeom>
        </p:spPr>
      </p:pic>
      <p:pic>
        <p:nvPicPr>
          <p:cNvPr id="60" name="Picture 59" descr="A graph showing a price fall&#10;&#10;Description automatically generated with medium confidence">
            <a:extLst>
              <a:ext uri="{FF2B5EF4-FFF2-40B4-BE49-F238E27FC236}">
                <a16:creationId xmlns:a16="http://schemas.microsoft.com/office/drawing/2014/main" id="{D44E5C63-A321-71D2-172D-AFF344D2A549}"/>
              </a:ext>
            </a:extLst>
          </p:cNvPr>
          <p:cNvPicPr>
            <a:picLocks noChangeAspect="1"/>
          </p:cNvPicPr>
          <p:nvPr/>
        </p:nvPicPr>
        <p:blipFill>
          <a:blip r:embed="rId11"/>
          <a:stretch>
            <a:fillRect/>
          </a:stretch>
        </p:blipFill>
        <p:spPr>
          <a:xfrm>
            <a:off x="33572250" y="4406812"/>
            <a:ext cx="9835222" cy="3681298"/>
          </a:xfrm>
          <a:prstGeom prst="rect">
            <a:avLst/>
          </a:prstGeom>
        </p:spPr>
      </p:pic>
      <p:sp>
        <p:nvSpPr>
          <p:cNvPr id="64" name="TextBox 63">
            <a:extLst>
              <a:ext uri="{FF2B5EF4-FFF2-40B4-BE49-F238E27FC236}">
                <a16:creationId xmlns:a16="http://schemas.microsoft.com/office/drawing/2014/main" id="{073FAF32-8B48-526D-3E20-1C432328A55E}"/>
              </a:ext>
            </a:extLst>
          </p:cNvPr>
          <p:cNvSpPr txBox="1"/>
          <p:nvPr/>
        </p:nvSpPr>
        <p:spPr>
          <a:xfrm>
            <a:off x="33482958" y="9792421"/>
            <a:ext cx="10016790" cy="789446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i="0" u="none" strike="noStrike" dirty="0">
                <a:solidFill>
                  <a:schemeClr val="accent1">
                    <a:lumMod val="50000"/>
                  </a:schemeClr>
                </a:solidFill>
                <a:effectLst/>
                <a:latin typeface="Book Antiqua" panose="02040602050305030304" pitchFamily="18" charset="0"/>
                <a:cs typeface="Arial" panose="020B0604020202020204" pitchFamily="34" charset="0"/>
              </a:rPr>
              <a:t>RESULT</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Retail gasoline closely tracks crude oil (r = 0.95), confirming upstream markets as the primary price driver. However, the crack spread ($0.362/gal avg) and a persistent </a:t>
            </a:r>
            <a:r>
              <a:rPr lang="en-US" sz="2500" b="1" i="0" u="none" strike="noStrike" dirty="0">
                <a:solidFill>
                  <a:srgbClr val="000000"/>
                </a:solidFill>
                <a:effectLst/>
                <a:latin typeface="Arial" panose="020B0604020202020204" pitchFamily="34" charset="0"/>
                <a:cs typeface="Arial" panose="020B0604020202020204" pitchFamily="34" charset="0"/>
              </a:rPr>
              <a:t>$2.14/gal regional gap</a:t>
            </a:r>
            <a:r>
              <a:rPr lang="en-US" sz="2500" b="0" i="0" u="none" strike="noStrike" dirty="0">
                <a:solidFill>
                  <a:srgbClr val="000000"/>
                </a:solidFill>
                <a:effectLst/>
                <a:latin typeface="Arial" panose="020B0604020202020204" pitchFamily="34" charset="0"/>
                <a:cs typeface="Arial" panose="020B0604020202020204" pitchFamily="34" charset="0"/>
              </a:rPr>
              <a:t> reveal that refinery margins, pipeline access, and regulations independently shape what consumers pay.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The asymmetry is statistically confirmed: pass-through slope during crude </a:t>
            </a:r>
            <a:r>
              <a:rPr lang="en-US" sz="2500" b="1" i="0" u="none" strike="noStrike" dirty="0">
                <a:solidFill>
                  <a:srgbClr val="000000"/>
                </a:solidFill>
                <a:effectLst/>
                <a:latin typeface="Arial" panose="020B0604020202020204" pitchFamily="34" charset="0"/>
                <a:cs typeface="Arial" panose="020B0604020202020204" pitchFamily="34" charset="0"/>
              </a:rPr>
              <a:t>increases (0.284)</a:t>
            </a:r>
            <a:r>
              <a:rPr lang="en-US" sz="2500" b="0" i="0" u="none" strike="noStrike" dirty="0">
                <a:solidFill>
                  <a:srgbClr val="000000"/>
                </a:solidFill>
                <a:effectLst/>
                <a:latin typeface="Arial" panose="020B0604020202020204" pitchFamily="34" charset="0"/>
                <a:cs typeface="Arial" panose="020B0604020202020204" pitchFamily="34" charset="0"/>
              </a:rPr>
              <a:t> exceeds decreases </a:t>
            </a:r>
            <a:r>
              <a:rPr lang="en-US" sz="2500" b="1" i="0" u="none" strike="noStrike" dirty="0">
                <a:solidFill>
                  <a:srgbClr val="000000"/>
                </a:solidFill>
                <a:effectLst/>
                <a:latin typeface="Arial" panose="020B0604020202020204" pitchFamily="34" charset="0"/>
                <a:cs typeface="Arial" panose="020B0604020202020204" pitchFamily="34" charset="0"/>
              </a:rPr>
              <a:t>(0.241)</a:t>
            </a:r>
            <a:r>
              <a:rPr lang="en-US" sz="2500" b="0" i="0" u="none" strike="noStrike" dirty="0">
                <a:solidFill>
                  <a:srgbClr val="000000"/>
                </a:solidFill>
                <a:effectLst/>
                <a:latin typeface="Arial" panose="020B0604020202020204" pitchFamily="34" charset="0"/>
                <a:cs typeface="Arial" panose="020B0604020202020204" pitchFamily="34" charset="0"/>
              </a:rPr>
              <a:t> by 17.8% (Wald test F = 4.82, </a:t>
            </a:r>
            <a:r>
              <a:rPr lang="en-US" sz="2500" b="1" i="0" u="none" strike="noStrike" dirty="0">
                <a:solidFill>
                  <a:srgbClr val="000000"/>
                </a:solidFill>
                <a:effectLst/>
                <a:latin typeface="Arial" panose="020B0604020202020204" pitchFamily="34" charset="0"/>
                <a:cs typeface="Arial" panose="020B0604020202020204" pitchFamily="34" charset="0"/>
              </a:rPr>
              <a:t>p = 0.028</a:t>
            </a:r>
            <a:r>
              <a:rPr lang="en-US" sz="2500" b="0" i="0" u="none" strike="noStrike" dirty="0">
                <a:solidFill>
                  <a:srgbClr val="000000"/>
                </a:solidFill>
                <a:effectLst/>
                <a:latin typeface="Arial" panose="020B0604020202020204" pitchFamily="34" charset="0"/>
                <a:cs typeface="Arial" panose="020B0604020202020204" pitchFamily="34" charset="0"/>
              </a:rPr>
              <a:t>). Over 12 weeks, retail accumulates </a:t>
            </a:r>
            <a:r>
              <a:rPr lang="en-US" sz="2500" b="1" i="0" u="none" strike="noStrike" dirty="0">
                <a:solidFill>
                  <a:srgbClr val="000000"/>
                </a:solidFill>
                <a:effectLst/>
                <a:latin typeface="Arial" panose="020B0604020202020204" pitchFamily="34" charset="0"/>
                <a:cs typeface="Arial" panose="020B0604020202020204" pitchFamily="34" charset="0"/>
              </a:rPr>
              <a:t>+6%</a:t>
            </a:r>
            <a:r>
              <a:rPr lang="en-US" sz="2500" b="0" i="0" u="none" strike="noStrike" dirty="0">
                <a:solidFill>
                  <a:srgbClr val="000000"/>
                </a:solidFill>
                <a:effectLst/>
                <a:latin typeface="Arial" panose="020B0604020202020204" pitchFamily="34" charset="0"/>
                <a:cs typeface="Arial" panose="020B0604020202020204" pitchFamily="34" charset="0"/>
              </a:rPr>
              <a:t> after crude rises but only </a:t>
            </a:r>
            <a:r>
              <a:rPr lang="en-US" sz="2500" b="1" i="0" u="none" strike="noStrike" dirty="0">
                <a:solidFill>
                  <a:srgbClr val="000000"/>
                </a:solidFill>
                <a:effectLst/>
                <a:latin typeface="Arial" panose="020B0604020202020204" pitchFamily="34" charset="0"/>
                <a:cs typeface="Arial" panose="020B0604020202020204" pitchFamily="34" charset="0"/>
              </a:rPr>
              <a:t>−4%</a:t>
            </a:r>
            <a:r>
              <a:rPr lang="en-US" sz="2500" b="0" i="0" u="none" strike="noStrike" dirty="0">
                <a:solidFill>
                  <a:srgbClr val="000000"/>
                </a:solidFill>
                <a:effectLst/>
                <a:latin typeface="Arial" panose="020B0604020202020204" pitchFamily="34" charset="0"/>
                <a:cs typeface="Arial" panose="020B0604020202020204" pitchFamily="34" charset="0"/>
              </a:rPr>
              <a:t> after crude falls — a 2 percentage point gap that translates to </a:t>
            </a:r>
            <a:r>
              <a:rPr lang="en-US" sz="2500" b="1" i="0" u="none" strike="noStrike" dirty="0">
                <a:solidFill>
                  <a:srgbClr val="000000"/>
                </a:solidFill>
                <a:effectLst/>
                <a:latin typeface="Arial" panose="020B0604020202020204" pitchFamily="34" charset="0"/>
                <a:cs typeface="Arial" panose="020B0604020202020204" pitchFamily="34" charset="0"/>
              </a:rPr>
              <a:t>$50–150/year</a:t>
            </a:r>
            <a:r>
              <a:rPr lang="en-US" sz="2500" b="0" i="0" u="none" strike="noStrike" dirty="0">
                <a:solidFill>
                  <a:srgbClr val="000000"/>
                </a:solidFill>
                <a:effectLst/>
                <a:latin typeface="Arial" panose="020B0604020202020204" pitchFamily="34" charset="0"/>
                <a:cs typeface="Arial" panose="020B0604020202020204" pitchFamily="34" charset="0"/>
              </a:rPr>
              <a:t> in excess consumer spending.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Supply shocks (Katrina +15%, Ukraine +40%) produce sharp immediate spikes; demand collapses (Financial Crisis −60%, COVID −30%) produce deeper but slower declines — further evidence of asymmetric market behavior.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Lasso Regression achieved the best predictive performance across all metrics: </a:t>
            </a:r>
            <a:r>
              <a:rPr lang="en-US" sz="2500" b="1" i="0" u="none" strike="noStrike" dirty="0">
                <a:solidFill>
                  <a:srgbClr val="000000"/>
                </a:solidFill>
                <a:effectLst/>
                <a:latin typeface="Arial" panose="020B0604020202020204" pitchFamily="34" charset="0"/>
                <a:cs typeface="Arial" panose="020B0604020202020204" pitchFamily="34" charset="0"/>
              </a:rPr>
              <a:t>MAE = $0.033/gal, R² = 0.454, Directional Accuracy = 76.9%</a:t>
            </a:r>
            <a:r>
              <a:rPr lang="en-US" sz="2500" b="0" i="0" u="none" strike="noStrike" dirty="0">
                <a:solidFill>
                  <a:srgbClr val="000000"/>
                </a:solidFill>
                <a:effectLst/>
                <a:latin typeface="Arial" panose="020B0604020202020204" pitchFamily="34" charset="0"/>
                <a:cs typeface="Arial" panose="020B0604020202020204" pitchFamily="34" charset="0"/>
              </a:rPr>
              <a:t> — correctly predicting price direction 3 out of 4 weeks and outperforming naive baseline by </a:t>
            </a:r>
            <a:r>
              <a:rPr lang="en-US" sz="2500" b="1" i="0" u="none" strike="noStrike" dirty="0">
                <a:solidFill>
                  <a:srgbClr val="000000"/>
                </a:solidFill>
                <a:effectLst/>
                <a:latin typeface="Arial" panose="020B0604020202020204" pitchFamily="34" charset="0"/>
                <a:cs typeface="Arial" panose="020B0604020202020204" pitchFamily="34" charset="0"/>
              </a:rPr>
              <a:t>33.2%</a:t>
            </a:r>
            <a:r>
              <a:rPr lang="en-US" sz="2500" b="0" i="0" u="none" strike="noStrike" dirty="0">
                <a:solidFill>
                  <a:srgbClr val="000000"/>
                </a:solidFill>
                <a:effectLst/>
                <a:latin typeface="Arial" panose="020B0604020202020204" pitchFamily="34" charset="0"/>
                <a:cs typeface="Arial" panose="020B0604020202020204" pitchFamily="34" charset="0"/>
              </a:rPr>
              <a:t>.</a:t>
            </a:r>
            <a:endParaRPr lang="en-US" sz="2500" dirty="0">
              <a:solidFill>
                <a:srgbClr val="000000"/>
              </a:solidFill>
              <a:latin typeface="Arial" panose="020B0604020202020204" pitchFamily="34" charset="0"/>
              <a:cs typeface="Arial" panose="020B0604020202020204" pitchFamily="34" charset="0"/>
            </a:endParaRPr>
          </a:p>
        </p:txBody>
      </p:sp>
      <p:pic>
        <p:nvPicPr>
          <p:cNvPr id="66" name="Picture 65" descr="A graph of a graph with numbers and a chart of the same number&#10;&#10;Description automatically generated with medium confidence">
            <a:extLst>
              <a:ext uri="{FF2B5EF4-FFF2-40B4-BE49-F238E27FC236}">
                <a16:creationId xmlns:a16="http://schemas.microsoft.com/office/drawing/2014/main" id="{7184CFDF-E3B3-2F00-D921-DD634FBE2288}"/>
              </a:ext>
            </a:extLst>
          </p:cNvPr>
          <p:cNvPicPr>
            <a:picLocks noChangeAspect="1"/>
          </p:cNvPicPr>
          <p:nvPr/>
        </p:nvPicPr>
        <p:blipFill>
          <a:blip r:embed="rId12"/>
          <a:stretch>
            <a:fillRect/>
          </a:stretch>
        </p:blipFill>
        <p:spPr>
          <a:xfrm>
            <a:off x="1236881" y="14393682"/>
            <a:ext cx="9068988" cy="7995401"/>
          </a:xfrm>
          <a:prstGeom prst="rect">
            <a:avLst/>
          </a:prstGeom>
        </p:spPr>
      </p:pic>
      <p:sp>
        <p:nvSpPr>
          <p:cNvPr id="67" name="TextBox 66">
            <a:extLst>
              <a:ext uri="{FF2B5EF4-FFF2-40B4-BE49-F238E27FC236}">
                <a16:creationId xmlns:a16="http://schemas.microsoft.com/office/drawing/2014/main" id="{4F187268-69BC-A13C-0503-00E1691A2CF7}"/>
              </a:ext>
            </a:extLst>
          </p:cNvPr>
          <p:cNvSpPr txBox="1"/>
          <p:nvPr/>
        </p:nvSpPr>
        <p:spPr>
          <a:xfrm>
            <a:off x="33482958" y="18043396"/>
            <a:ext cx="10016789" cy="827919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i="0" u="none" strike="noStrike" dirty="0">
                <a:solidFill>
                  <a:schemeClr val="accent1">
                    <a:lumMod val="50000"/>
                  </a:schemeClr>
                </a:solidFill>
                <a:effectLst/>
                <a:latin typeface="Book Antiqua" panose="02040602050305030304" pitchFamily="18" charset="0"/>
                <a:cs typeface="Arial" panose="020B0604020202020204" pitchFamily="34" charset="0"/>
              </a:rPr>
              <a:t>CONCLUSION</a:t>
            </a:r>
          </a:p>
          <a:p>
            <a:pPr marL="457200" indent="-4572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Asymmetry is real and measurable. The rockets-and-feathers effect is not an anecdote — it is a statistically significant market pattern (p = 0.028) that transfers wealth from consumers to the supply chain during every period of crude oil volatility.</a:t>
            </a:r>
          </a:p>
          <a:p>
            <a:pPr marL="457200" indent="-4572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 Geography is destiny at the pump. A household in Los Angeles pays over $100/month more than an equivalent household in Houston — not because of market forces, but because of infrastructure and regulatory differences that policymakers could address. </a:t>
            </a:r>
            <a:endParaRPr lang="en-US" sz="2500" dirty="0">
              <a:solidFill>
                <a:srgbClr val="000000"/>
              </a:solidFill>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r>
              <a:rPr lang="en-US" sz="2500" i="0" u="none" strike="noStrike" dirty="0">
                <a:solidFill>
                  <a:srgbClr val="000000"/>
                </a:solidFill>
                <a:effectLst/>
                <a:latin typeface="Arial" panose="020B0604020202020204" pitchFamily="34" charset="0"/>
                <a:cs typeface="Arial" panose="020B0604020202020204" pitchFamily="34" charset="0"/>
              </a:rPr>
              <a:t>Prediction is possible from public data. Our model proves that the signals needed to forecast gas prices already exist in freely available government data. A consumer-facing prediction tool is not just technically feasible — it is a matter of information equity.</a:t>
            </a:r>
          </a:p>
          <a:p>
            <a:pPr algn="l"/>
            <a:endParaRPr lang="en-US" sz="2500" i="0" u="none" strike="noStrike" dirty="0">
              <a:solidFill>
                <a:srgbClr val="000000"/>
              </a:solidFill>
              <a:effectLst/>
              <a:latin typeface="Arial" panose="020B0604020202020204" pitchFamily="34" charset="0"/>
              <a:cs typeface="Arial" panose="020B0604020202020204" pitchFamily="34" charset="0"/>
            </a:endParaRPr>
          </a:p>
          <a:p>
            <a:pPr algn="l"/>
            <a:r>
              <a:rPr lang="en-US" sz="2500" b="0" i="1" u="none" strike="noStrike" dirty="0">
                <a:solidFill>
                  <a:srgbClr val="000000"/>
                </a:solidFill>
                <a:effectLst/>
                <a:latin typeface="Arial" panose="020B0604020202020204" pitchFamily="34" charset="0"/>
                <a:cs typeface="Arial" panose="020B0604020202020204" pitchFamily="34" charset="0"/>
              </a:rPr>
              <a:t>Future Work: Formal Error Correction Model for asymmetry significance, LSTM deep learning for long-range temporal patterns, international comparison via World Bank data, and development of a real-time consumer price prediction dashboard.</a:t>
            </a:r>
            <a:endParaRPr lang="en-US" sz="2500" b="0" i="0" u="none" strike="noStrike" dirty="0">
              <a:solidFill>
                <a:srgbClr val="000000"/>
              </a:solidFill>
              <a:effectLst/>
              <a:latin typeface="Arial" panose="020B0604020202020204" pitchFamily="34" charset="0"/>
              <a:cs typeface="Arial" panose="020B0604020202020204" pitchFamily="34" charset="0"/>
            </a:endParaRPr>
          </a:p>
          <a:p>
            <a:pPr algn="l"/>
            <a:r>
              <a:rPr lang="en-US" sz="2500" b="0" i="1" u="none" strike="noStrike" dirty="0">
                <a:solidFill>
                  <a:srgbClr val="000000"/>
                </a:solidFill>
                <a:effectLst/>
                <a:latin typeface="Arial" panose="020B0604020202020204" pitchFamily="34" charset="0"/>
                <a:cs typeface="Arial" panose="020B0604020202020204" pitchFamily="34" charset="0"/>
              </a:rPr>
              <a:t>Ref: Bacon, R.W. (1991). "Rockets and feathers." Energy Economics, 13(3), 211–218. Data: EIA Open Data API, FRED API.</a:t>
            </a:r>
            <a:endParaRPr lang="en-US" sz="2500" b="0" i="0" u="none" strike="noStrike" dirty="0">
              <a:solidFill>
                <a:srgbClr val="000000"/>
              </a:solidFill>
              <a:effectLst/>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D61C12DB-1CD9-EC3B-D321-9A6AD5E246D3}"/>
              </a:ext>
            </a:extLst>
          </p:cNvPr>
          <p:cNvSpPr txBox="1"/>
          <p:nvPr/>
        </p:nvSpPr>
        <p:spPr>
          <a:xfrm>
            <a:off x="22389935" y="23193015"/>
            <a:ext cx="10704578" cy="93256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a:solidFill>
                  <a:schemeClr val="accent1">
                    <a:lumMod val="50000"/>
                  </a:schemeClr>
                </a:solidFill>
                <a:latin typeface="Book Antiqua" panose="02040602050305030304" pitchFamily="18" charset="0"/>
              </a:rPr>
              <a:t>PREDICTION OUTPUT</a:t>
            </a:r>
          </a:p>
          <a:p>
            <a:r>
              <a:rPr lang="en-US" sz="2500" b="0" i="0" u="none" strike="noStrike" dirty="0">
                <a:solidFill>
                  <a:srgbClr val="000000"/>
                </a:solidFill>
                <a:effectLst/>
                <a:latin typeface="Arial" panose="020B0604020202020204" pitchFamily="34" charset="0"/>
                <a:cs typeface="Arial" panose="020B0604020202020204" pitchFamily="34" charset="0"/>
              </a:rPr>
              <a:t>Lasso Regression outperformed all 7 models by automatically selecting the most informative features through L1 regularization:</a:t>
            </a: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dirty="0">
              <a:solidFill>
                <a:srgbClr val="000000"/>
              </a:solidFill>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2500" b="0" i="0" u="none" strike="noStrike" dirty="0">
              <a:solidFill>
                <a:srgbClr val="000000"/>
              </a:solidFill>
              <a:effectLst/>
              <a:latin typeface="Arial" panose="020B0604020202020204" pitchFamily="34" charset="0"/>
              <a:cs typeface="Arial" panose="020B0604020202020204" pitchFamily="34" charset="0"/>
            </a:endParaRPr>
          </a:p>
          <a:p>
            <a:endParaRPr lang="en-US" sz="1800" b="0" i="0" u="none" strike="noStrike" dirty="0">
              <a:solidFill>
                <a:schemeClr val="accent1">
                  <a:lumMod val="50000"/>
                </a:schemeClr>
              </a:solidFill>
              <a:effectLst/>
              <a:latin typeface="Arial" panose="020B0604020202020204" pitchFamily="34" charset="0"/>
              <a:cs typeface="Arial" panose="020B0604020202020204" pitchFamily="34" charset="0"/>
            </a:endParaRPr>
          </a:p>
        </p:txBody>
      </p:sp>
      <p:pic>
        <p:nvPicPr>
          <p:cNvPr id="70" name="Picture 69" descr="A screenshot of a graph&#10;&#10;Description automatically generated">
            <a:extLst>
              <a:ext uri="{FF2B5EF4-FFF2-40B4-BE49-F238E27FC236}">
                <a16:creationId xmlns:a16="http://schemas.microsoft.com/office/drawing/2014/main" id="{CA3004D5-E375-46A1-8DAC-CE20ECE3F1CC}"/>
              </a:ext>
            </a:extLst>
          </p:cNvPr>
          <p:cNvPicPr>
            <a:picLocks noChangeAspect="1"/>
          </p:cNvPicPr>
          <p:nvPr/>
        </p:nvPicPr>
        <p:blipFill>
          <a:blip r:embed="rId13"/>
          <a:stretch>
            <a:fillRect/>
          </a:stretch>
        </p:blipFill>
        <p:spPr>
          <a:xfrm>
            <a:off x="22436124" y="25518020"/>
            <a:ext cx="10561452" cy="7000625"/>
          </a:xfrm>
          <a:prstGeom prst="rect">
            <a:avLst/>
          </a:prstGeom>
        </p:spPr>
      </p:pic>
      <p:pic>
        <p:nvPicPr>
          <p:cNvPr id="71" name="Picture 70" descr="A mathematical equation with numbers and symbols&#10;&#10;Description automatically generated">
            <a:extLst>
              <a:ext uri="{FF2B5EF4-FFF2-40B4-BE49-F238E27FC236}">
                <a16:creationId xmlns:a16="http://schemas.microsoft.com/office/drawing/2014/main" id="{E247B379-69EA-ED4D-BD25-2B5C11DCB20F}"/>
              </a:ext>
            </a:extLst>
          </p:cNvPr>
          <p:cNvPicPr>
            <a:picLocks noChangeAspect="1"/>
          </p:cNvPicPr>
          <p:nvPr/>
        </p:nvPicPr>
        <p:blipFill>
          <a:blip r:embed="rId14"/>
          <a:stretch>
            <a:fillRect/>
          </a:stretch>
        </p:blipFill>
        <p:spPr>
          <a:xfrm>
            <a:off x="24611702" y="24547163"/>
            <a:ext cx="6261039" cy="970858"/>
          </a:xfrm>
          <a:prstGeom prst="rect">
            <a:avLst/>
          </a:prstGeom>
        </p:spPr>
      </p:pic>
      <p:pic>
        <p:nvPicPr>
          <p:cNvPr id="73" name="Picture 72" descr="A red letter on a white background&#10;&#10;Description automatically generated">
            <a:extLst>
              <a:ext uri="{FF2B5EF4-FFF2-40B4-BE49-F238E27FC236}">
                <a16:creationId xmlns:a16="http://schemas.microsoft.com/office/drawing/2014/main" id="{AC5B5218-40CE-A4F1-D909-1EA06BA111AD}"/>
              </a:ext>
            </a:extLst>
          </p:cNvPr>
          <p:cNvPicPr>
            <a:picLocks noChangeAspect="1"/>
          </p:cNvPicPr>
          <p:nvPr/>
        </p:nvPicPr>
        <p:blipFill>
          <a:blip r:embed="rId15"/>
          <a:stretch>
            <a:fillRect/>
          </a:stretch>
        </p:blipFill>
        <p:spPr>
          <a:xfrm>
            <a:off x="38489861" y="884034"/>
            <a:ext cx="4062396" cy="802323"/>
          </a:xfrm>
          <a:prstGeom prst="rect">
            <a:avLst/>
          </a:prstGeom>
        </p:spPr>
      </p:pic>
      <p:sp>
        <p:nvSpPr>
          <p:cNvPr id="74" name="TextBox 73">
            <a:extLst>
              <a:ext uri="{FF2B5EF4-FFF2-40B4-BE49-F238E27FC236}">
                <a16:creationId xmlns:a16="http://schemas.microsoft.com/office/drawing/2014/main" id="{89384013-6DA0-0BA2-733C-6E977B737333}"/>
              </a:ext>
            </a:extLst>
          </p:cNvPr>
          <p:cNvSpPr txBox="1"/>
          <p:nvPr/>
        </p:nvSpPr>
        <p:spPr>
          <a:xfrm>
            <a:off x="33482958" y="26547779"/>
            <a:ext cx="10016789" cy="59708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a:solidFill>
                  <a:schemeClr val="accent1">
                    <a:lumMod val="50000"/>
                  </a:schemeClr>
                </a:solidFill>
                <a:latin typeface="Book Antiqua" panose="02040602050305030304" pitchFamily="18" charset="0"/>
                <a:cs typeface="Arial" panose="020B0604020202020204" pitchFamily="34" charset="0"/>
              </a:rPr>
              <a:t>REFERENCE</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Bacon, R.W. (1991). "Rockets and feathers: the asymmetric speed of adjustment of UK retail gasoline prices." </a:t>
            </a:r>
            <a:r>
              <a:rPr lang="en-US" sz="2500" b="0" i="1" u="none" strike="noStrike" dirty="0">
                <a:solidFill>
                  <a:srgbClr val="000000"/>
                </a:solidFill>
                <a:effectLst/>
                <a:latin typeface="Arial" panose="020B0604020202020204" pitchFamily="34" charset="0"/>
                <a:cs typeface="Arial" panose="020B0604020202020204" pitchFamily="34" charset="0"/>
              </a:rPr>
              <a:t>Energy Economics</a:t>
            </a:r>
            <a:r>
              <a:rPr lang="en-US" sz="2500" b="0" i="0" u="none" strike="noStrike" dirty="0">
                <a:solidFill>
                  <a:srgbClr val="000000"/>
                </a:solidFill>
                <a:effectLst/>
                <a:latin typeface="Arial" panose="020B0604020202020204" pitchFamily="34" charset="0"/>
                <a:cs typeface="Arial" panose="020B0604020202020204" pitchFamily="34" charset="0"/>
              </a:rPr>
              <a:t>, 13(3), 211–218.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U.S. Energy Information Administration. Open Data API. </a:t>
            </a:r>
            <a:r>
              <a:rPr lang="en-US" sz="2500" b="0" i="0" dirty="0">
                <a:effectLst/>
                <a:latin typeface="Arial" panose="020B0604020202020204" pitchFamily="34" charset="0"/>
                <a:cs typeface="Arial" panose="020B0604020202020204" pitchFamily="34" charset="0"/>
              </a:rPr>
              <a:t>https://www.eia.gov/opendata/</a:t>
            </a:r>
            <a:r>
              <a:rPr lang="en-US" sz="2500" b="0" i="0" u="none" strike="noStrike" dirty="0">
                <a:solidFill>
                  <a:srgbClr val="000000"/>
                </a:solidFill>
                <a:effectLst/>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Federal Reserve Bank of St. Louis. FRED Economic Data. </a:t>
            </a:r>
            <a:r>
              <a:rPr lang="en-US" sz="2500" b="0" i="0" dirty="0">
                <a:effectLst/>
                <a:latin typeface="Arial" panose="020B0604020202020204" pitchFamily="34" charset="0"/>
                <a:cs typeface="Arial" panose="020B0604020202020204" pitchFamily="34" charset="0"/>
              </a:rPr>
              <a:t>https://fred.stlouisfed.org/</a:t>
            </a:r>
            <a:r>
              <a:rPr lang="en-US" sz="2500" b="0" i="0" u="none" strike="noStrike" dirty="0">
                <a:solidFill>
                  <a:srgbClr val="000000"/>
                </a:solidFill>
                <a:effectLst/>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US" sz="2500" b="0" i="0" u="none" strike="noStrike" dirty="0">
                <a:solidFill>
                  <a:srgbClr val="000000"/>
                </a:solidFill>
                <a:effectLst/>
                <a:latin typeface="Arial" panose="020B0604020202020204" pitchFamily="34" charset="0"/>
                <a:cs typeface="Arial" panose="020B0604020202020204" pitchFamily="34" charset="0"/>
              </a:rPr>
              <a:t>Baker, S., Bloom, N., &amp; Davis, S. (2016). "Measuring Economic Policy Uncertainty." </a:t>
            </a:r>
            <a:r>
              <a:rPr lang="en-US" sz="2500" b="0" i="1" u="none" strike="noStrike" dirty="0">
                <a:solidFill>
                  <a:srgbClr val="000000"/>
                </a:solidFill>
                <a:effectLst/>
                <a:latin typeface="Arial" panose="020B0604020202020204" pitchFamily="34" charset="0"/>
                <a:cs typeface="Arial" panose="020B0604020202020204" pitchFamily="34" charset="0"/>
              </a:rPr>
              <a:t>Quarterly Journal of Economics</a:t>
            </a:r>
            <a:r>
              <a:rPr lang="en-US" sz="2500" b="0" i="0" u="none" strike="noStrike" dirty="0">
                <a:solidFill>
                  <a:srgbClr val="000000"/>
                </a:solidFill>
                <a:effectLst/>
                <a:latin typeface="Arial" panose="020B0604020202020204" pitchFamily="34" charset="0"/>
                <a:cs typeface="Arial" panose="020B0604020202020204" pitchFamily="34" charset="0"/>
              </a:rPr>
              <a:t>, 131(4), 1593–1636.</a:t>
            </a:r>
          </a:p>
          <a:p>
            <a:pPr marL="342900" indent="-342900">
              <a:buFont typeface="Arial" panose="020B0604020202020204" pitchFamily="34" charset="0"/>
              <a:buChar char="•"/>
            </a:pPr>
            <a:endParaRPr lang="en-US" sz="2500" dirty="0">
              <a:solidFill>
                <a:srgbClr val="000000"/>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500" b="1" dirty="0">
              <a:solidFill>
                <a:srgbClr val="000000"/>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500" b="1" dirty="0">
              <a:solidFill>
                <a:srgbClr val="000000"/>
              </a:solidFill>
              <a:latin typeface="Arial" panose="020B0604020202020204" pitchFamily="34" charset="0"/>
              <a:cs typeface="Arial" panose="020B0604020202020204" pitchFamily="34" charset="0"/>
            </a:endParaRPr>
          </a:p>
          <a:p>
            <a:endParaRPr lang="en-US" sz="25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64879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2796</TotalTime>
  <Words>1391</Words>
  <Application>Microsoft Macintosh PowerPoint</Application>
  <PresentationFormat>Custom</PresentationFormat>
  <Paragraphs>201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-webkit-standard</vt:lpstr>
      <vt:lpstr>Arial</vt:lpstr>
      <vt:lpstr>Book Antiqua</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Kien</dc:creator>
  <cp:lastModifiedBy>Nguyen, Kien</cp:lastModifiedBy>
  <cp:revision>5</cp:revision>
  <dcterms:created xsi:type="dcterms:W3CDTF">2026-04-08T21:14:54Z</dcterms:created>
  <dcterms:modified xsi:type="dcterms:W3CDTF">2026-04-10T19:51:04Z</dcterms:modified>
</cp:coreProperties>
</file>