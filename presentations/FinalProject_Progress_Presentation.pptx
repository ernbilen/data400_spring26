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74" r:id="rId3"/>
    <p:sldId id="258" r:id="rId4"/>
    <p:sldId id="259" r:id="rId5"/>
    <p:sldId id="262" r:id="rId6"/>
    <p:sldId id="273" r:id="rId7"/>
    <p:sldId id="260" r:id="rId8"/>
    <p:sldId id="261" r:id="rId9"/>
    <p:sldId id="263" r:id="rId10"/>
    <p:sldId id="264" r:id="rId11"/>
    <p:sldId id="265" r:id="rId12"/>
    <p:sldId id="266" r:id="rId13"/>
    <p:sldId id="267" r:id="rId14"/>
    <p:sldId id="268"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72"/>
    <p:restoredTop sz="94610"/>
  </p:normalViewPr>
  <p:slideViewPr>
    <p:cSldViewPr snapToGrid="0" snapToObjects="1">
      <p:cViewPr>
        <p:scale>
          <a:sx n="165" d="100"/>
          <a:sy n="165" d="100"/>
        </p:scale>
        <p:origin x="1464" y="1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66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8935138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101797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3F"/>
        </a:solidFill>
        <a:effectLst/>
      </p:bgPr>
    </p:bg>
    <p:spTree>
      <p:nvGrpSpPr>
        <p:cNvPr id="1" name=""/>
        <p:cNvGrpSpPr/>
        <p:nvPr/>
      </p:nvGrpSpPr>
      <p:grpSpPr>
        <a:xfrm>
          <a:off x="0" y="0"/>
          <a:ext cx="0" cy="0"/>
          <a:chOff x="0" y="0"/>
          <a:chExt cx="0" cy="0"/>
        </a:xfrm>
      </p:grpSpPr>
      <p:sp>
        <p:nvSpPr>
          <p:cNvPr id="2" name="Shape 0"/>
          <p:cNvSpPr/>
          <p:nvPr/>
        </p:nvSpPr>
        <p:spPr>
          <a:xfrm>
            <a:off x="0" y="3840480"/>
            <a:ext cx="9144000" cy="1303020"/>
          </a:xfrm>
          <a:prstGeom prst="rect">
            <a:avLst/>
          </a:prstGeom>
          <a:solidFill>
            <a:srgbClr val="1B3A5C"/>
          </a:solidFill>
          <a:ln/>
        </p:spPr>
        <p:txBody>
          <a:bodyPr/>
          <a:lstStyle/>
          <a:p>
            <a:endParaRPr lang="en-US"/>
          </a:p>
        </p:txBody>
      </p:sp>
      <p:sp>
        <p:nvSpPr>
          <p:cNvPr id="3" name="Text 1"/>
          <p:cNvSpPr/>
          <p:nvPr/>
        </p:nvSpPr>
        <p:spPr>
          <a:xfrm>
            <a:off x="731520" y="731520"/>
            <a:ext cx="7680960" cy="2011680"/>
          </a:xfrm>
          <a:prstGeom prst="rect">
            <a:avLst/>
          </a:prstGeom>
          <a:noFill/>
          <a:ln/>
        </p:spPr>
        <p:txBody>
          <a:bodyPr wrap="square" rtlCol="0" anchor="ctr"/>
          <a:lstStyle/>
          <a:p>
            <a:pPr marL="0" indent="0">
              <a:lnSpc>
                <a:spcPct val="110000"/>
              </a:lnSpc>
              <a:buNone/>
            </a:pPr>
            <a:r>
              <a:rPr lang="en-US" sz="4400" b="0" i="0" u="none" strike="noStrike" dirty="0">
                <a:solidFill>
                  <a:schemeClr val="bg1"/>
                </a:solidFill>
                <a:effectLst/>
                <a:latin typeface="-webkit-standard"/>
              </a:rPr>
              <a:t>What Actually Drives the Price at the Pump?</a:t>
            </a:r>
            <a:endParaRPr lang="en-US" sz="4200" dirty="0">
              <a:solidFill>
                <a:schemeClr val="bg1"/>
              </a:solidFill>
            </a:endParaRPr>
          </a:p>
        </p:txBody>
      </p:sp>
      <p:sp>
        <p:nvSpPr>
          <p:cNvPr id="4" name="Text 2"/>
          <p:cNvSpPr/>
          <p:nvPr/>
        </p:nvSpPr>
        <p:spPr>
          <a:xfrm>
            <a:off x="731520" y="2651760"/>
            <a:ext cx="7680960" cy="914400"/>
          </a:xfrm>
          <a:prstGeom prst="rect">
            <a:avLst/>
          </a:prstGeom>
          <a:noFill/>
          <a:ln/>
        </p:spPr>
        <p:txBody>
          <a:bodyPr wrap="square" rtlCol="0" anchor="ctr"/>
          <a:lstStyle/>
          <a:p>
            <a:pPr marL="0" indent="0">
              <a:buNone/>
            </a:pPr>
            <a:r>
              <a:rPr lang="en-US" sz="1800" i="1" dirty="0">
                <a:solidFill>
                  <a:srgbClr val="95A5A6"/>
                </a:solidFill>
                <a:latin typeface="Calibri" pitchFamily="34" charset="0"/>
                <a:ea typeface="Calibri" pitchFamily="34" charset="-122"/>
                <a:cs typeface="Calibri" pitchFamily="34" charset="-120"/>
              </a:rPr>
              <a:t>Modeling Speed, Asymmetry, and Regional Disparity</a:t>
            </a:r>
            <a:endParaRPr lang="en-US" sz="1800" dirty="0"/>
          </a:p>
          <a:p>
            <a:pPr marL="0" indent="0">
              <a:buNone/>
            </a:pPr>
            <a:r>
              <a:rPr lang="en-US" sz="1800" i="1" dirty="0">
                <a:solidFill>
                  <a:srgbClr val="95A5A6"/>
                </a:solidFill>
                <a:latin typeface="Calibri" pitchFamily="34" charset="0"/>
                <a:ea typeface="Calibri" pitchFamily="34" charset="-122"/>
                <a:cs typeface="Calibri" pitchFamily="34" charset="-120"/>
              </a:rPr>
              <a:t>in U.S. Fuel Markets</a:t>
            </a:r>
            <a:endParaRPr lang="en-US" sz="1800" dirty="0"/>
          </a:p>
        </p:txBody>
      </p:sp>
      <p:sp>
        <p:nvSpPr>
          <p:cNvPr id="5" name="Text 3"/>
          <p:cNvSpPr/>
          <p:nvPr/>
        </p:nvSpPr>
        <p:spPr>
          <a:xfrm>
            <a:off x="731520" y="4069080"/>
            <a:ext cx="4572000" cy="45720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Analytics — Progress Presentation</a:t>
            </a:r>
            <a:endParaRPr lang="en-US" sz="1400" dirty="0"/>
          </a:p>
        </p:txBody>
      </p:sp>
      <p:sp>
        <p:nvSpPr>
          <p:cNvPr id="6" name="Text 4"/>
          <p:cNvSpPr/>
          <p:nvPr/>
        </p:nvSpPr>
        <p:spPr>
          <a:xfrm>
            <a:off x="4572000" y="4069080"/>
            <a:ext cx="3840480" cy="457200"/>
          </a:xfrm>
          <a:prstGeom prst="rect">
            <a:avLst/>
          </a:prstGeom>
          <a:noFill/>
          <a:ln/>
        </p:spPr>
        <p:txBody>
          <a:bodyPr wrap="square" rtlCol="0" anchor="ctr"/>
          <a:lstStyle/>
          <a:p>
            <a:pPr marL="0" indent="0" algn="r">
              <a:buNone/>
            </a:pPr>
            <a:r>
              <a:rPr lang="en-US" sz="1400" dirty="0">
                <a:solidFill>
                  <a:srgbClr val="95A5A6"/>
                </a:solidFill>
                <a:latin typeface="Calibri" pitchFamily="34" charset="0"/>
                <a:ea typeface="Calibri" pitchFamily="34" charset="-122"/>
                <a:cs typeface="Calibri" pitchFamily="34" charset="-120"/>
              </a:rPr>
              <a:t>March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259452"/>
            <a:ext cx="7863840" cy="457200"/>
          </a:xfrm>
          <a:prstGeom prst="rect">
            <a:avLst/>
          </a:prstGeom>
          <a:noFill/>
          <a:ln/>
        </p:spPr>
        <p:txBody>
          <a:bodyPr wrap="square" rtlCol="0" anchor="ctr"/>
          <a:lstStyle/>
          <a:p>
            <a:pPr marL="0" indent="0">
              <a:buNone/>
            </a:pPr>
            <a:r>
              <a:rPr lang="en-US" sz="2800" b="1" dirty="0">
                <a:solidFill>
                  <a:srgbClr val="1B3A5C"/>
                </a:solidFill>
                <a:latin typeface="Calibri" pitchFamily="34" charset="0"/>
                <a:ea typeface="Calibri" pitchFamily="34" charset="-122"/>
                <a:cs typeface="Calibri" pitchFamily="34" charset="-120"/>
              </a:rPr>
              <a:t>Why This Matters</a:t>
            </a:r>
            <a:endParaRPr lang="en-US" sz="2800" dirty="0"/>
          </a:p>
        </p:txBody>
      </p:sp>
      <p:sp>
        <p:nvSpPr>
          <p:cNvPr id="3" name="Text 1"/>
          <p:cNvSpPr/>
          <p:nvPr/>
        </p:nvSpPr>
        <p:spPr>
          <a:xfrm>
            <a:off x="640080" y="822960"/>
            <a:ext cx="7863840" cy="4206240"/>
          </a:xfrm>
          <a:prstGeom prst="rect">
            <a:avLst/>
          </a:prstGeom>
          <a:noFill/>
          <a:ln/>
        </p:spPr>
        <p:txBody>
          <a:bodyPr wrap="square" rtlCol="0" anchor="t"/>
          <a:lstStyle/>
          <a:p>
            <a:pPr marL="0" indent="0">
              <a:buNone/>
            </a:pPr>
            <a:r>
              <a:rPr lang="en-US" sz="1300" b="1" dirty="0">
                <a:solidFill>
                  <a:srgbClr val="1B3A5C"/>
                </a:solidFill>
                <a:latin typeface="Calibri" pitchFamily="34" charset="0"/>
                <a:ea typeface="Calibri" pitchFamily="34" charset="-122"/>
                <a:cs typeface="Calibri" pitchFamily="34" charset="-120"/>
              </a:rPr>
              <a:t>The Problem:</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Americans pay an average of $3.50+ per gallon — a non-discretionary cost for 150+ million daily commuters with no alternative.</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~50% of the pump price is determined by global crude oil markets — completely outside the consumer's control.</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Gas prices rise ~3x faster than they fall — the "Rockets and Feathers" effect. Stations raise prices like rockets when crude goes up, but lower them like feathers when it drops.</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This asymmetry costs a typical household an estimated $50–150/year in excess fuel spending during volatile periods.</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Low-income households spend 8–10% of income on fuel (vs. 2–3% for high-income) and cannot defer purchases, switch to EVs, or access public transit.</a:t>
            </a:r>
            <a:endParaRPr lang="en-US" sz="1300" dirty="0"/>
          </a:p>
          <a:p>
            <a:pPr marL="0" indent="0">
              <a:buNone/>
            </a:pPr>
            <a:endParaRPr lang="en-US" sz="1300" dirty="0"/>
          </a:p>
          <a:p>
            <a:pPr marL="0" indent="0">
              <a:buNone/>
            </a:pPr>
            <a:r>
              <a:rPr lang="en-US" sz="1300" b="1" dirty="0">
                <a:solidFill>
                  <a:srgbClr val="1B3A5C"/>
                </a:solidFill>
                <a:latin typeface="Calibri" pitchFamily="34" charset="0"/>
                <a:ea typeface="Calibri" pitchFamily="34" charset="-122"/>
                <a:cs typeface="Calibri" pitchFamily="34" charset="-120"/>
              </a:rPr>
              <a:t>What This Project Does:</a:t>
            </a:r>
            <a:endParaRPr lang="en-US" sz="1300" dirty="0"/>
          </a:p>
          <a:p>
            <a:pPr marL="0" indent="0">
              <a:buNone/>
            </a:pP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Using 26 years of weekly U.S. fuel market data from public APIs (EIA + FRED), this project:</a:t>
            </a: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1.  Measures whether the rockets-and-feathers asymmetry is real and quantifies how large it is</a:t>
            </a: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2.  Maps which U.S. regions (PADD districts) are most vulnerable to price shocks</a:t>
            </a:r>
            <a:endParaRPr lang="en-US" sz="1300" dirty="0"/>
          </a:p>
          <a:p>
            <a:pPr marL="0" indent="0">
              <a:buNone/>
            </a:pPr>
            <a:r>
              <a:rPr lang="en-US" sz="1100" dirty="0">
                <a:solidFill>
                  <a:srgbClr val="333333"/>
                </a:solidFill>
                <a:latin typeface="Calibri" pitchFamily="34" charset="0"/>
                <a:ea typeface="Calibri" pitchFamily="34" charset="-122"/>
                <a:cs typeface="Calibri" pitchFamily="34" charset="-120"/>
              </a:rPr>
              <a:t>    3.  Builds predictive models to forecast next-week gas price movements from supply chain signals</a:t>
            </a:r>
            <a:endParaRPr lang="en-US" sz="1300" dirty="0"/>
          </a:p>
          <a:p>
            <a:pPr marL="0" indent="0">
              <a:buNone/>
            </a:pPr>
            <a:endParaRPr lang="en-US" sz="1300" dirty="0"/>
          </a:p>
          <a:p>
            <a:pPr marL="0" indent="0">
              <a:buNone/>
            </a:pPr>
            <a:r>
              <a:rPr lang="en-US" sz="900" dirty="0">
                <a:solidFill>
                  <a:srgbClr val="999999"/>
                </a:solidFill>
                <a:latin typeface="Calibri" pitchFamily="34" charset="0"/>
                <a:ea typeface="Calibri" pitchFamily="34" charset="-122"/>
                <a:cs typeface="Calibri" pitchFamily="34" charset="-120"/>
              </a:rPr>
              <a:t>Sources: EIA Open Data API, FRED API  |  Bacon (1991) — rockets-and-feathers literature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Research Questions</a:t>
            </a:r>
            <a:endParaRPr lang="en-US" sz="3200" dirty="0"/>
          </a:p>
        </p:txBody>
      </p:sp>
      <p:sp>
        <p:nvSpPr>
          <p:cNvPr id="3" name="Shape 1"/>
          <p:cNvSpPr/>
          <p:nvPr/>
        </p:nvSpPr>
        <p:spPr>
          <a:xfrm>
            <a:off x="640080" y="1280160"/>
            <a:ext cx="548640" cy="548640"/>
          </a:xfrm>
          <a:prstGeom prst="ellipse">
            <a:avLst/>
          </a:prstGeom>
          <a:solidFill>
            <a:srgbClr val="2E75B6"/>
          </a:solidFill>
          <a:ln/>
        </p:spPr>
        <p:txBody>
          <a:bodyPr/>
          <a:lstStyle/>
          <a:p>
            <a:endParaRPr lang="en-US"/>
          </a:p>
        </p:txBody>
      </p:sp>
      <p:sp>
        <p:nvSpPr>
          <p:cNvPr id="4" name="Text 2"/>
          <p:cNvSpPr/>
          <p:nvPr/>
        </p:nvSpPr>
        <p:spPr>
          <a:xfrm>
            <a:off x="640080" y="128016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Q1</a:t>
            </a:r>
            <a:endParaRPr lang="en-US" sz="1300" dirty="0"/>
          </a:p>
        </p:txBody>
      </p:sp>
      <p:sp>
        <p:nvSpPr>
          <p:cNvPr id="5" name="Text 3"/>
          <p:cNvSpPr/>
          <p:nvPr/>
        </p:nvSpPr>
        <p:spPr>
          <a:xfrm>
            <a:off x="1417320" y="1188720"/>
            <a:ext cx="7086600" cy="365760"/>
          </a:xfrm>
          <a:prstGeom prst="rect">
            <a:avLst/>
          </a:prstGeom>
          <a:noFill/>
          <a:ln/>
        </p:spPr>
        <p:txBody>
          <a:bodyPr wrap="square" lIns="0" tIns="0" rIns="0" bIns="0" rtlCol="0" anchor="ctr"/>
          <a:lstStyle/>
          <a:p>
            <a:pPr marL="0" indent="0">
              <a:buNone/>
            </a:pPr>
            <a:r>
              <a:rPr lang="en-US" sz="1800" b="1" dirty="0">
                <a:solidFill>
                  <a:srgbClr val="2C3E50"/>
                </a:solidFill>
                <a:latin typeface="Trebuchet MS" pitchFamily="34" charset="0"/>
                <a:ea typeface="Trebuchet MS" pitchFamily="34" charset="-122"/>
                <a:cs typeface="Trebuchet MS" pitchFamily="34" charset="-120"/>
              </a:rPr>
              <a:t>Speed &amp; Asymmetry</a:t>
            </a:r>
            <a:endParaRPr lang="en-US" sz="1800" dirty="0"/>
          </a:p>
        </p:txBody>
      </p:sp>
      <p:sp>
        <p:nvSpPr>
          <p:cNvPr id="6" name="Text 4"/>
          <p:cNvSpPr/>
          <p:nvPr/>
        </p:nvSpPr>
        <p:spPr>
          <a:xfrm>
            <a:off x="1417320" y="1600200"/>
            <a:ext cx="7086600" cy="5943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Do gas prices rise faster than they fall? How many weeks does it take for a crude oil change to reach the pump — and is that lag different for increases vs. decreases?</a:t>
            </a:r>
            <a:endParaRPr lang="en-US" sz="1200" dirty="0"/>
          </a:p>
        </p:txBody>
      </p:sp>
      <p:sp>
        <p:nvSpPr>
          <p:cNvPr id="7" name="Shape 5"/>
          <p:cNvSpPr/>
          <p:nvPr/>
        </p:nvSpPr>
        <p:spPr>
          <a:xfrm>
            <a:off x="640080" y="2468880"/>
            <a:ext cx="548640" cy="548640"/>
          </a:xfrm>
          <a:prstGeom prst="ellipse">
            <a:avLst/>
          </a:prstGeom>
          <a:solidFill>
            <a:srgbClr val="27AE60"/>
          </a:solidFill>
          <a:ln/>
        </p:spPr>
        <p:txBody>
          <a:bodyPr/>
          <a:lstStyle/>
          <a:p>
            <a:endParaRPr lang="en-US"/>
          </a:p>
        </p:txBody>
      </p:sp>
      <p:sp>
        <p:nvSpPr>
          <p:cNvPr id="8" name="Text 6"/>
          <p:cNvSpPr/>
          <p:nvPr/>
        </p:nvSpPr>
        <p:spPr>
          <a:xfrm>
            <a:off x="640080" y="246888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Q2</a:t>
            </a:r>
            <a:endParaRPr lang="en-US" sz="1300" dirty="0"/>
          </a:p>
        </p:txBody>
      </p:sp>
      <p:sp>
        <p:nvSpPr>
          <p:cNvPr id="9" name="Text 7"/>
          <p:cNvSpPr/>
          <p:nvPr/>
        </p:nvSpPr>
        <p:spPr>
          <a:xfrm>
            <a:off x="1417320" y="2377440"/>
            <a:ext cx="7086600" cy="365760"/>
          </a:xfrm>
          <a:prstGeom prst="rect">
            <a:avLst/>
          </a:prstGeom>
          <a:noFill/>
          <a:ln/>
        </p:spPr>
        <p:txBody>
          <a:bodyPr wrap="square" lIns="0" tIns="0" rIns="0" bIns="0" rtlCol="0" anchor="ctr"/>
          <a:lstStyle/>
          <a:p>
            <a:pPr marL="0" indent="0">
              <a:buNone/>
            </a:pPr>
            <a:r>
              <a:rPr lang="en-US" sz="1800" b="1" dirty="0">
                <a:solidFill>
                  <a:srgbClr val="2C3E50"/>
                </a:solidFill>
                <a:latin typeface="Trebuchet MS" pitchFamily="34" charset="0"/>
                <a:ea typeface="Trebuchet MS" pitchFamily="34" charset="-122"/>
                <a:cs typeface="Trebuchet MS" pitchFamily="34" charset="-120"/>
              </a:rPr>
              <a:t>Regional Disparity</a:t>
            </a:r>
            <a:endParaRPr lang="en-US" sz="1800" dirty="0"/>
          </a:p>
        </p:txBody>
      </p:sp>
      <p:sp>
        <p:nvSpPr>
          <p:cNvPr id="10" name="Text 8"/>
          <p:cNvSpPr/>
          <p:nvPr/>
        </p:nvSpPr>
        <p:spPr>
          <a:xfrm>
            <a:off x="1417320" y="2788920"/>
            <a:ext cx="7086600" cy="5943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Which U.S. regions are most vulnerable to price shocks? Do some PADD districts face consistently higher markups or faster pass-through?</a:t>
            </a:r>
            <a:endParaRPr lang="en-US" sz="1200" dirty="0"/>
          </a:p>
        </p:txBody>
      </p:sp>
      <p:sp>
        <p:nvSpPr>
          <p:cNvPr id="11" name="Shape 9"/>
          <p:cNvSpPr/>
          <p:nvPr/>
        </p:nvSpPr>
        <p:spPr>
          <a:xfrm>
            <a:off x="640080" y="3657600"/>
            <a:ext cx="548640" cy="548640"/>
          </a:xfrm>
          <a:prstGeom prst="ellipse">
            <a:avLst/>
          </a:prstGeom>
          <a:solidFill>
            <a:srgbClr val="E74C3C"/>
          </a:solidFill>
          <a:ln/>
        </p:spPr>
        <p:txBody>
          <a:bodyPr/>
          <a:lstStyle/>
          <a:p>
            <a:endParaRPr lang="en-US"/>
          </a:p>
        </p:txBody>
      </p:sp>
      <p:sp>
        <p:nvSpPr>
          <p:cNvPr id="12" name="Text 10"/>
          <p:cNvSpPr/>
          <p:nvPr/>
        </p:nvSpPr>
        <p:spPr>
          <a:xfrm>
            <a:off x="640080" y="3657600"/>
            <a:ext cx="548640" cy="54864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Q3</a:t>
            </a:r>
            <a:endParaRPr lang="en-US" sz="1300" dirty="0"/>
          </a:p>
        </p:txBody>
      </p:sp>
      <p:sp>
        <p:nvSpPr>
          <p:cNvPr id="13" name="Text 11"/>
          <p:cNvSpPr/>
          <p:nvPr/>
        </p:nvSpPr>
        <p:spPr>
          <a:xfrm>
            <a:off x="1417320" y="3566160"/>
            <a:ext cx="7086600" cy="365760"/>
          </a:xfrm>
          <a:prstGeom prst="rect">
            <a:avLst/>
          </a:prstGeom>
          <a:noFill/>
          <a:ln/>
        </p:spPr>
        <p:txBody>
          <a:bodyPr wrap="square" lIns="0" tIns="0" rIns="0" bIns="0" rtlCol="0" anchor="ctr"/>
          <a:lstStyle/>
          <a:p>
            <a:pPr marL="0" indent="0">
              <a:buNone/>
            </a:pPr>
            <a:r>
              <a:rPr lang="en-US" sz="1800" b="1" dirty="0">
                <a:solidFill>
                  <a:srgbClr val="2C3E50"/>
                </a:solidFill>
                <a:latin typeface="Trebuchet MS" pitchFamily="34" charset="0"/>
                <a:ea typeface="Trebuchet MS" pitchFamily="34" charset="-122"/>
                <a:cs typeface="Trebuchet MS" pitchFamily="34" charset="-120"/>
              </a:rPr>
              <a:t>Predictive Power</a:t>
            </a:r>
            <a:endParaRPr lang="en-US" sz="1800" dirty="0"/>
          </a:p>
        </p:txBody>
      </p:sp>
      <p:sp>
        <p:nvSpPr>
          <p:cNvPr id="14" name="Text 12"/>
          <p:cNvSpPr/>
          <p:nvPr/>
        </p:nvSpPr>
        <p:spPr>
          <a:xfrm>
            <a:off x="1417320" y="3977640"/>
            <a:ext cx="7086600" cy="594360"/>
          </a:xfrm>
          <a:prstGeom prst="rect">
            <a:avLst/>
          </a:prstGeom>
          <a:noFill/>
          <a:ln/>
        </p:spPr>
        <p:txBody>
          <a:bodyPr wrap="square" lIns="0" tIns="0" rIns="0" bIns="0" rtlCol="0" anchor="ctr"/>
          <a:lstStyle/>
          <a:p>
            <a:pPr marL="0" indent="0">
              <a:buNone/>
            </a:pPr>
            <a:r>
              <a:rPr lang="en-US" sz="1200" dirty="0">
                <a:solidFill>
                  <a:srgbClr val="7F8C8D"/>
                </a:solidFill>
                <a:latin typeface="Calibri" pitchFamily="34" charset="0"/>
                <a:ea typeface="Calibri" pitchFamily="34" charset="-122"/>
                <a:cs typeface="Calibri" pitchFamily="34" charset="-120"/>
              </a:rPr>
              <a:t>Can a model using crude oil prices, refinery utilization, inventory levels, and futures data outperform a naive baseline in forecasting next-week's retail gas price?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Data Sources &amp; Pipeline</a:t>
            </a:r>
            <a:endParaRPr lang="en-US" sz="3200" dirty="0"/>
          </a:p>
        </p:txBody>
      </p:sp>
      <p:sp>
        <p:nvSpPr>
          <p:cNvPr id="3" name="Text 1"/>
          <p:cNvSpPr/>
          <p:nvPr/>
        </p:nvSpPr>
        <p:spPr>
          <a:xfrm>
            <a:off x="640080" y="914400"/>
            <a:ext cx="7863840" cy="365760"/>
          </a:xfrm>
          <a:prstGeom prst="rect">
            <a:avLst/>
          </a:prstGeom>
          <a:noFill/>
          <a:ln/>
        </p:spPr>
        <p:txBody>
          <a:bodyPr wrap="square" rtlCol="0" anchor="ctr"/>
          <a:lstStyle/>
          <a:p>
            <a:pPr marL="0" indent="0">
              <a:buNone/>
            </a:pPr>
            <a:r>
              <a:rPr lang="en-US" sz="1400" i="1" dirty="0">
                <a:solidFill>
                  <a:srgbClr val="7F8C8D"/>
                </a:solidFill>
                <a:latin typeface="Calibri" pitchFamily="34" charset="0"/>
                <a:ea typeface="Calibri" pitchFamily="34" charset="-122"/>
                <a:cs typeface="Calibri" pitchFamily="34" charset="-120"/>
              </a:rPr>
              <a:t>3 free, public API sources — 12 data series — merged into 1 master dataset</a:t>
            </a:r>
            <a:endParaRPr lang="en-US" sz="1400" dirty="0"/>
          </a:p>
        </p:txBody>
      </p:sp>
      <p:sp>
        <p:nvSpPr>
          <p:cNvPr id="4" name="Shape 2"/>
          <p:cNvSpPr/>
          <p:nvPr/>
        </p:nvSpPr>
        <p:spPr>
          <a:xfrm>
            <a:off x="640080" y="1463040"/>
            <a:ext cx="2560320" cy="29260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640080" y="1463040"/>
            <a:ext cx="2560320" cy="457200"/>
          </a:xfrm>
          <a:prstGeom prst="rect">
            <a:avLst/>
          </a:prstGeom>
          <a:solidFill>
            <a:srgbClr val="1B3A5C"/>
          </a:solidFill>
          <a:ln/>
        </p:spPr>
        <p:txBody>
          <a:bodyPr/>
          <a:lstStyle/>
          <a:p>
            <a:endParaRPr lang="en-US"/>
          </a:p>
        </p:txBody>
      </p:sp>
      <p:sp>
        <p:nvSpPr>
          <p:cNvPr id="6" name="Text 4"/>
          <p:cNvSpPr/>
          <p:nvPr/>
        </p:nvSpPr>
        <p:spPr>
          <a:xfrm>
            <a:off x="640080" y="14630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EIA API</a:t>
            </a:r>
            <a:endParaRPr lang="en-US" sz="1400" dirty="0"/>
          </a:p>
        </p:txBody>
      </p:sp>
      <p:sp>
        <p:nvSpPr>
          <p:cNvPr id="7" name="Text 5"/>
          <p:cNvSpPr/>
          <p:nvPr/>
        </p:nvSpPr>
        <p:spPr>
          <a:xfrm>
            <a:off x="822960" y="2057400"/>
            <a:ext cx="2194560" cy="1828800"/>
          </a:xfrm>
          <a:prstGeom prst="rect">
            <a:avLst/>
          </a:prstGeom>
          <a:noFill/>
          <a:ln/>
        </p:spPr>
        <p:txBody>
          <a:bodyPr wrap="square" rtlCol="0" anchor="ctr"/>
          <a:lstStyle/>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Retail gas prices (5 regions)</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Spot/wholesale prices</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Refinery utilization</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Gasoline inventory</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Crude oil futures</a:t>
            </a:r>
            <a:endParaRPr lang="en-US" sz="1100" dirty="0"/>
          </a:p>
        </p:txBody>
      </p:sp>
      <p:sp>
        <p:nvSpPr>
          <p:cNvPr id="8" name="Text 6"/>
          <p:cNvSpPr/>
          <p:nvPr/>
        </p:nvSpPr>
        <p:spPr>
          <a:xfrm>
            <a:off x="640080" y="3931920"/>
            <a:ext cx="2560320" cy="320040"/>
          </a:xfrm>
          <a:prstGeom prst="rect">
            <a:avLst/>
          </a:prstGeom>
          <a:noFill/>
          <a:ln/>
        </p:spPr>
        <p:txBody>
          <a:bodyPr wrap="square" rtlCol="0" anchor="ctr"/>
          <a:lstStyle/>
          <a:p>
            <a:pPr marL="0" indent="0" algn="ctr">
              <a:buNone/>
            </a:pPr>
            <a:r>
              <a:rPr lang="en-US" sz="1200" b="1" dirty="0">
                <a:solidFill>
                  <a:srgbClr val="2E75B6"/>
                </a:solidFill>
                <a:latin typeface="Calibri" pitchFamily="34" charset="0"/>
                <a:ea typeface="Calibri" pitchFamily="34" charset="-122"/>
                <a:cs typeface="Calibri" pitchFamily="34" charset="-120"/>
              </a:rPr>
              <a:t>5 datasets</a:t>
            </a:r>
            <a:endParaRPr lang="en-US" sz="1200" dirty="0"/>
          </a:p>
        </p:txBody>
      </p:sp>
      <p:sp>
        <p:nvSpPr>
          <p:cNvPr id="9" name="Shape 7"/>
          <p:cNvSpPr/>
          <p:nvPr/>
        </p:nvSpPr>
        <p:spPr>
          <a:xfrm>
            <a:off x="3474720" y="1463040"/>
            <a:ext cx="2560320" cy="29260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3474720" y="1463040"/>
            <a:ext cx="2560320" cy="457200"/>
          </a:xfrm>
          <a:prstGeom prst="rect">
            <a:avLst/>
          </a:prstGeom>
          <a:solidFill>
            <a:srgbClr val="1B3A5C"/>
          </a:solidFill>
          <a:ln/>
        </p:spPr>
        <p:txBody>
          <a:bodyPr/>
          <a:lstStyle/>
          <a:p>
            <a:endParaRPr lang="en-US"/>
          </a:p>
        </p:txBody>
      </p:sp>
      <p:sp>
        <p:nvSpPr>
          <p:cNvPr id="11" name="Text 9"/>
          <p:cNvSpPr/>
          <p:nvPr/>
        </p:nvSpPr>
        <p:spPr>
          <a:xfrm>
            <a:off x="3474720" y="14630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FRED API</a:t>
            </a:r>
            <a:endParaRPr lang="en-US" sz="1400" dirty="0"/>
          </a:p>
        </p:txBody>
      </p:sp>
      <p:sp>
        <p:nvSpPr>
          <p:cNvPr id="12" name="Text 10"/>
          <p:cNvSpPr/>
          <p:nvPr/>
        </p:nvSpPr>
        <p:spPr>
          <a:xfrm>
            <a:off x="3657600" y="2057400"/>
            <a:ext cx="2194560" cy="1828800"/>
          </a:xfrm>
          <a:prstGeom prst="rect">
            <a:avLst/>
          </a:prstGeom>
          <a:noFill/>
          <a:ln/>
        </p:spPr>
        <p:txBody>
          <a:bodyPr wrap="square" rtlCol="0" anchor="ctr"/>
          <a:lstStyle/>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WTI &amp; Brent crude oil</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USD exchange rate</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CPI / Inflation</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Consumer sentiment</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Federal funds rate</a:t>
            </a:r>
            <a:endParaRPr lang="en-US" sz="1100" dirty="0"/>
          </a:p>
        </p:txBody>
      </p:sp>
      <p:sp>
        <p:nvSpPr>
          <p:cNvPr id="13" name="Text 11"/>
          <p:cNvSpPr/>
          <p:nvPr/>
        </p:nvSpPr>
        <p:spPr>
          <a:xfrm>
            <a:off x="3474720" y="3931920"/>
            <a:ext cx="2560320" cy="320040"/>
          </a:xfrm>
          <a:prstGeom prst="rect">
            <a:avLst/>
          </a:prstGeom>
          <a:noFill/>
          <a:ln/>
        </p:spPr>
        <p:txBody>
          <a:bodyPr wrap="square" rtlCol="0" anchor="ctr"/>
          <a:lstStyle/>
          <a:p>
            <a:pPr marL="0" indent="0" algn="ctr">
              <a:buNone/>
            </a:pPr>
            <a:r>
              <a:rPr lang="en-US" sz="1200" b="1" dirty="0">
                <a:solidFill>
                  <a:srgbClr val="2E75B6"/>
                </a:solidFill>
                <a:latin typeface="Calibri" pitchFamily="34" charset="0"/>
                <a:ea typeface="Calibri" pitchFamily="34" charset="-122"/>
                <a:cs typeface="Calibri" pitchFamily="34" charset="-120"/>
              </a:rPr>
              <a:t>7 series</a:t>
            </a:r>
            <a:endParaRPr lang="en-US" sz="1200" dirty="0"/>
          </a:p>
        </p:txBody>
      </p:sp>
      <p:sp>
        <p:nvSpPr>
          <p:cNvPr id="14" name="Shape 12"/>
          <p:cNvSpPr/>
          <p:nvPr/>
        </p:nvSpPr>
        <p:spPr>
          <a:xfrm>
            <a:off x="6309360" y="1463040"/>
            <a:ext cx="2560320" cy="29260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5" name="Shape 13"/>
          <p:cNvSpPr/>
          <p:nvPr/>
        </p:nvSpPr>
        <p:spPr>
          <a:xfrm>
            <a:off x="6309360" y="1463040"/>
            <a:ext cx="2560320" cy="457200"/>
          </a:xfrm>
          <a:prstGeom prst="rect">
            <a:avLst/>
          </a:prstGeom>
          <a:solidFill>
            <a:srgbClr val="1B3A5C"/>
          </a:solidFill>
          <a:ln/>
        </p:spPr>
        <p:txBody>
          <a:bodyPr/>
          <a:lstStyle/>
          <a:p>
            <a:endParaRPr lang="en-US"/>
          </a:p>
        </p:txBody>
      </p:sp>
      <p:sp>
        <p:nvSpPr>
          <p:cNvPr id="16" name="Text 14"/>
          <p:cNvSpPr/>
          <p:nvPr/>
        </p:nvSpPr>
        <p:spPr>
          <a:xfrm>
            <a:off x="6309360" y="1463040"/>
            <a:ext cx="25603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Engineered</a:t>
            </a:r>
            <a:endParaRPr lang="en-US" sz="1400" dirty="0"/>
          </a:p>
        </p:txBody>
      </p:sp>
      <p:sp>
        <p:nvSpPr>
          <p:cNvPr id="17" name="Text 15"/>
          <p:cNvSpPr/>
          <p:nvPr/>
        </p:nvSpPr>
        <p:spPr>
          <a:xfrm>
            <a:off x="6492240" y="2057400"/>
            <a:ext cx="2194560" cy="1828800"/>
          </a:xfrm>
          <a:prstGeom prst="rect">
            <a:avLst/>
          </a:prstGeom>
          <a:noFill/>
          <a:ln/>
        </p:spPr>
        <p:txBody>
          <a:bodyPr wrap="square" rtlCol="0" anchor="ctr"/>
          <a:lstStyle/>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Crack spread (margin)</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Week-over-week changes</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Rolling averages</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Seasonal indicators</a:t>
            </a:r>
            <a:endParaRPr lang="en-US" sz="1100" dirty="0"/>
          </a:p>
          <a:p>
            <a:pPr marL="0" indent="0">
              <a:lnSpc>
                <a:spcPct val="140000"/>
              </a:lnSpc>
              <a:buNone/>
            </a:pPr>
            <a:r>
              <a:rPr lang="en-US" sz="1100" dirty="0">
                <a:solidFill>
                  <a:srgbClr val="2C3E50"/>
                </a:solidFill>
                <a:latin typeface="Calibri" pitchFamily="34" charset="0"/>
                <a:ea typeface="Calibri" pitchFamily="34" charset="-122"/>
                <a:cs typeface="Calibri" pitchFamily="34" charset="-120"/>
              </a:rPr>
              <a:t>Prediction targets</a:t>
            </a:r>
            <a:endParaRPr lang="en-US" sz="1100" dirty="0"/>
          </a:p>
        </p:txBody>
      </p:sp>
      <p:sp>
        <p:nvSpPr>
          <p:cNvPr id="18" name="Text 16"/>
          <p:cNvSpPr/>
          <p:nvPr/>
        </p:nvSpPr>
        <p:spPr>
          <a:xfrm>
            <a:off x="6309360" y="3931920"/>
            <a:ext cx="2560320" cy="320040"/>
          </a:xfrm>
          <a:prstGeom prst="rect">
            <a:avLst/>
          </a:prstGeom>
          <a:noFill/>
          <a:ln/>
        </p:spPr>
        <p:txBody>
          <a:bodyPr wrap="square" rtlCol="0" anchor="ctr"/>
          <a:lstStyle/>
          <a:p>
            <a:pPr marL="0" indent="0" algn="ctr">
              <a:buNone/>
            </a:pPr>
            <a:r>
              <a:rPr lang="en-US" sz="1200" b="1" dirty="0">
                <a:solidFill>
                  <a:srgbClr val="2E75B6"/>
                </a:solidFill>
                <a:latin typeface="Calibri" pitchFamily="34" charset="0"/>
                <a:ea typeface="Calibri" pitchFamily="34" charset="-122"/>
                <a:cs typeface="Calibri" pitchFamily="34" charset="-120"/>
              </a:rPr>
              <a:t>15+ features</a:t>
            </a:r>
            <a:endParaRPr lang="en-US" sz="1200" dirty="0"/>
          </a:p>
        </p:txBody>
      </p:sp>
      <p:sp>
        <p:nvSpPr>
          <p:cNvPr id="19" name="Text 17"/>
          <p:cNvSpPr/>
          <p:nvPr/>
        </p:nvSpPr>
        <p:spPr>
          <a:xfrm>
            <a:off x="640080" y="4572000"/>
            <a:ext cx="7863840" cy="320040"/>
          </a:xfrm>
          <a:prstGeom prst="rect">
            <a:avLst/>
          </a:prstGeom>
          <a:noFill/>
          <a:ln/>
        </p:spPr>
        <p:txBody>
          <a:bodyPr wrap="square" rtlCol="0" anchor="ctr"/>
          <a:lstStyle/>
          <a:p>
            <a:pPr marL="0" indent="0">
              <a:buNone/>
            </a:pPr>
            <a:r>
              <a:rPr lang="en-US" sz="1200" dirty="0">
                <a:solidFill>
                  <a:srgbClr val="95A5A6"/>
                </a:solidFill>
                <a:latin typeface="Calibri" pitchFamily="34" charset="0"/>
                <a:ea typeface="Calibri" pitchFamily="34" charset="-122"/>
                <a:cs typeface="Calibri" pitchFamily="34" charset="-120"/>
              </a:rPr>
              <a:t>All data is weekly frequency, covering 2000–2026 (~1,300 weeks)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Processing Pipeline: Step by Step</a:t>
            </a:r>
            <a:endParaRPr lang="en-US" sz="2600" dirty="0"/>
          </a:p>
        </p:txBody>
      </p:sp>
      <p:sp>
        <p:nvSpPr>
          <p:cNvPr id="3" name="Shape 1"/>
          <p:cNvSpPr/>
          <p:nvPr/>
        </p:nvSpPr>
        <p:spPr>
          <a:xfrm>
            <a:off x="731520" y="1051560"/>
            <a:ext cx="640080" cy="640080"/>
          </a:xfrm>
          <a:prstGeom prst="ellipse">
            <a:avLst/>
          </a:prstGeom>
          <a:solidFill>
            <a:srgbClr val="2E75B6"/>
          </a:solidFill>
          <a:ln/>
        </p:spPr>
        <p:txBody>
          <a:bodyPr/>
          <a:lstStyle/>
          <a:p>
            <a:endParaRPr lang="en-US"/>
          </a:p>
        </p:txBody>
      </p:sp>
      <p:sp>
        <p:nvSpPr>
          <p:cNvPr id="4" name="Text 2"/>
          <p:cNvSpPr/>
          <p:nvPr/>
        </p:nvSpPr>
        <p:spPr>
          <a:xfrm>
            <a:off x="731520" y="1051560"/>
            <a:ext cx="640080" cy="64008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1</a:t>
            </a:r>
            <a:endParaRPr lang="en-US" sz="2200" dirty="0"/>
          </a:p>
        </p:txBody>
      </p:sp>
      <p:sp>
        <p:nvSpPr>
          <p:cNvPr id="5" name="Text 3"/>
          <p:cNvSpPr/>
          <p:nvPr/>
        </p:nvSpPr>
        <p:spPr>
          <a:xfrm>
            <a:off x="1691640" y="1097280"/>
            <a:ext cx="365760" cy="548640"/>
          </a:xfrm>
          <a:prstGeom prst="rect">
            <a:avLst/>
          </a:prstGeom>
          <a:noFill/>
          <a:ln/>
        </p:spPr>
        <p:txBody>
          <a:bodyPr wrap="square" rtlCol="0" anchor="ctr"/>
          <a:lstStyle/>
          <a:p>
            <a:pPr marL="0" indent="0" algn="ctr">
              <a:buNone/>
            </a:pPr>
            <a:r>
              <a:rPr lang="en-US" sz="2000" dirty="0">
                <a:solidFill>
                  <a:srgbClr val="95A5A6"/>
                </a:solidFill>
              </a:rPr>
              <a:t>→</a:t>
            </a:r>
            <a:endParaRPr lang="en-US" sz="2000" dirty="0"/>
          </a:p>
        </p:txBody>
      </p:sp>
      <p:sp>
        <p:nvSpPr>
          <p:cNvPr id="6" name="Shape 4"/>
          <p:cNvSpPr/>
          <p:nvPr/>
        </p:nvSpPr>
        <p:spPr>
          <a:xfrm>
            <a:off x="228600" y="1920240"/>
            <a:ext cx="164592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228600" y="1920240"/>
            <a:ext cx="1645920" cy="54864"/>
          </a:xfrm>
          <a:prstGeom prst="rect">
            <a:avLst/>
          </a:prstGeom>
          <a:solidFill>
            <a:srgbClr val="2E75B6"/>
          </a:solidFill>
          <a:ln/>
        </p:spPr>
        <p:txBody>
          <a:bodyPr/>
          <a:lstStyle/>
          <a:p>
            <a:endParaRPr lang="en-US"/>
          </a:p>
        </p:txBody>
      </p:sp>
      <p:sp>
        <p:nvSpPr>
          <p:cNvPr id="8" name="Text 6"/>
          <p:cNvSpPr/>
          <p:nvPr/>
        </p:nvSpPr>
        <p:spPr>
          <a:xfrm>
            <a:off x="228600" y="2011680"/>
            <a:ext cx="1645920" cy="320040"/>
          </a:xfrm>
          <a:prstGeom prst="rect">
            <a:avLst/>
          </a:prstGeom>
          <a:noFill/>
          <a:ln/>
        </p:spPr>
        <p:txBody>
          <a:bodyPr wrap="square" lIns="0" tIns="0" rIns="0" bIns="0" rtlCol="0" anchor="ctr"/>
          <a:lstStyle/>
          <a:p>
            <a:pPr marL="0" indent="0" algn="ctr">
              <a:buNone/>
            </a:pPr>
            <a:r>
              <a:rPr lang="en-US" sz="1200" b="1" dirty="0">
                <a:solidFill>
                  <a:srgbClr val="2E75B6"/>
                </a:solidFill>
                <a:latin typeface="Trebuchet MS" pitchFamily="34" charset="0"/>
                <a:ea typeface="Trebuchet MS" pitchFamily="34" charset="-122"/>
                <a:cs typeface="Trebuchet MS" pitchFamily="34" charset="-120"/>
              </a:rPr>
              <a:t>EXTRACT</a:t>
            </a:r>
            <a:endParaRPr lang="en-US" sz="1200" dirty="0"/>
          </a:p>
        </p:txBody>
      </p:sp>
      <p:sp>
        <p:nvSpPr>
          <p:cNvPr id="9" name="Text 7"/>
          <p:cNvSpPr/>
          <p:nvPr/>
        </p:nvSpPr>
        <p:spPr>
          <a:xfrm>
            <a:off x="320040" y="2331720"/>
            <a:ext cx="1463040" cy="502920"/>
          </a:xfrm>
          <a:prstGeom prst="rect">
            <a:avLst/>
          </a:prstGeom>
          <a:noFill/>
          <a:ln/>
        </p:spPr>
        <p:txBody>
          <a:bodyPr wrap="square" lIns="0" tIns="0" rIns="0" bIns="0" rtlCol="0" anchor="ctr"/>
          <a:lstStyle/>
          <a:p>
            <a:pPr marL="0" indent="0" algn="ctr">
              <a:buNone/>
            </a:pPr>
            <a:r>
              <a:rPr lang="en-US" sz="1000" dirty="0">
                <a:solidFill>
                  <a:srgbClr val="2C3E50"/>
                </a:solidFill>
                <a:latin typeface="Calibri" pitchFamily="34" charset="0"/>
                <a:ea typeface="Calibri" pitchFamily="34" charset="-122"/>
                <a:cs typeface="Calibri" pitchFamily="34" charset="-120"/>
              </a:rPr>
              <a:t>Pull data from</a:t>
            </a:r>
            <a:endParaRPr lang="en-US" sz="1000" dirty="0"/>
          </a:p>
          <a:p>
            <a:pPr marL="0" indent="0" algn="ctr">
              <a:buNone/>
            </a:pPr>
            <a:r>
              <a:rPr lang="en-US" sz="1000" dirty="0">
                <a:solidFill>
                  <a:srgbClr val="2C3E50"/>
                </a:solidFill>
                <a:latin typeface="Calibri" pitchFamily="34" charset="0"/>
                <a:ea typeface="Calibri" pitchFamily="34" charset="-122"/>
                <a:cs typeface="Calibri" pitchFamily="34" charset="-120"/>
              </a:rPr>
              <a:t>2 APIs via Python</a:t>
            </a:r>
            <a:endParaRPr lang="en-US" sz="1000" dirty="0"/>
          </a:p>
        </p:txBody>
      </p:sp>
      <p:sp>
        <p:nvSpPr>
          <p:cNvPr id="10" name="Shape 8"/>
          <p:cNvSpPr/>
          <p:nvPr/>
        </p:nvSpPr>
        <p:spPr>
          <a:xfrm>
            <a:off x="411480" y="2880360"/>
            <a:ext cx="1280160" cy="0"/>
          </a:xfrm>
          <a:prstGeom prst="line">
            <a:avLst/>
          </a:prstGeom>
          <a:noFill/>
          <a:ln w="6350">
            <a:solidFill>
              <a:srgbClr val="E0E0E0"/>
            </a:solidFill>
            <a:prstDash val="solid"/>
          </a:ln>
        </p:spPr>
        <p:txBody>
          <a:bodyPr/>
          <a:lstStyle/>
          <a:p>
            <a:endParaRPr lang="en-US"/>
          </a:p>
        </p:txBody>
      </p:sp>
      <p:sp>
        <p:nvSpPr>
          <p:cNvPr id="11" name="Text 9"/>
          <p:cNvSpPr/>
          <p:nvPr/>
        </p:nvSpPr>
        <p:spPr>
          <a:xfrm>
            <a:off x="320040" y="2971800"/>
            <a:ext cx="1463040" cy="914400"/>
          </a:xfrm>
          <a:prstGeom prst="rect">
            <a:avLst/>
          </a:prstGeom>
          <a:noFill/>
          <a:ln/>
        </p:spPr>
        <p:txBody>
          <a:bodyPr wrap="square" lIns="0" tIns="0" rIns="0" bIns="0" rtlCol="0" anchor="ctr"/>
          <a:lstStyle/>
          <a:p>
            <a:pPr marL="0" indent="0" algn="ctr">
              <a:buNone/>
            </a:pPr>
            <a:r>
              <a:rPr lang="en-US" sz="900" dirty="0">
                <a:solidFill>
                  <a:srgbClr val="95A5A6"/>
                </a:solidFill>
                <a:latin typeface="Calibri" pitchFamily="34" charset="0"/>
                <a:ea typeface="Calibri" pitchFamily="34" charset="-122"/>
                <a:cs typeface="Calibri" pitchFamily="34" charset="-120"/>
              </a:rPr>
              <a:t>EIA API → 5 datasets</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FRED API → 7 series</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All saved as raw CSVs</a:t>
            </a:r>
            <a:endParaRPr lang="en-US" sz="900" dirty="0"/>
          </a:p>
        </p:txBody>
      </p:sp>
      <p:sp>
        <p:nvSpPr>
          <p:cNvPr id="12" name="Shape 10"/>
          <p:cNvSpPr/>
          <p:nvPr/>
        </p:nvSpPr>
        <p:spPr>
          <a:xfrm>
            <a:off x="2514600" y="1051560"/>
            <a:ext cx="640080" cy="640080"/>
          </a:xfrm>
          <a:prstGeom prst="ellipse">
            <a:avLst/>
          </a:prstGeom>
          <a:solidFill>
            <a:srgbClr val="E67E22"/>
          </a:solidFill>
          <a:ln/>
        </p:spPr>
        <p:txBody>
          <a:bodyPr/>
          <a:lstStyle/>
          <a:p>
            <a:endParaRPr lang="en-US"/>
          </a:p>
        </p:txBody>
      </p:sp>
      <p:sp>
        <p:nvSpPr>
          <p:cNvPr id="13" name="Text 11"/>
          <p:cNvSpPr/>
          <p:nvPr/>
        </p:nvSpPr>
        <p:spPr>
          <a:xfrm>
            <a:off x="2514600" y="1051560"/>
            <a:ext cx="640080" cy="64008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2</a:t>
            </a:r>
            <a:endParaRPr lang="en-US" sz="2200" dirty="0"/>
          </a:p>
        </p:txBody>
      </p:sp>
      <p:sp>
        <p:nvSpPr>
          <p:cNvPr id="14" name="Text 12"/>
          <p:cNvSpPr/>
          <p:nvPr/>
        </p:nvSpPr>
        <p:spPr>
          <a:xfrm>
            <a:off x="3474720" y="1097280"/>
            <a:ext cx="365760" cy="548640"/>
          </a:xfrm>
          <a:prstGeom prst="rect">
            <a:avLst/>
          </a:prstGeom>
          <a:noFill/>
          <a:ln/>
        </p:spPr>
        <p:txBody>
          <a:bodyPr wrap="square" rtlCol="0" anchor="ctr"/>
          <a:lstStyle/>
          <a:p>
            <a:pPr marL="0" indent="0" algn="ctr">
              <a:buNone/>
            </a:pPr>
            <a:r>
              <a:rPr lang="en-US" sz="2000" dirty="0">
                <a:solidFill>
                  <a:srgbClr val="95A5A6"/>
                </a:solidFill>
              </a:rPr>
              <a:t>→</a:t>
            </a:r>
            <a:endParaRPr lang="en-US" sz="2000" dirty="0"/>
          </a:p>
        </p:txBody>
      </p:sp>
      <p:sp>
        <p:nvSpPr>
          <p:cNvPr id="15" name="Shape 13"/>
          <p:cNvSpPr/>
          <p:nvPr/>
        </p:nvSpPr>
        <p:spPr>
          <a:xfrm>
            <a:off x="2011680" y="1920240"/>
            <a:ext cx="164592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6" name="Shape 14"/>
          <p:cNvSpPr/>
          <p:nvPr/>
        </p:nvSpPr>
        <p:spPr>
          <a:xfrm>
            <a:off x="2011680" y="1920240"/>
            <a:ext cx="1645920" cy="54864"/>
          </a:xfrm>
          <a:prstGeom prst="rect">
            <a:avLst/>
          </a:prstGeom>
          <a:solidFill>
            <a:srgbClr val="E67E22"/>
          </a:solidFill>
          <a:ln/>
        </p:spPr>
        <p:txBody>
          <a:bodyPr/>
          <a:lstStyle/>
          <a:p>
            <a:endParaRPr lang="en-US"/>
          </a:p>
        </p:txBody>
      </p:sp>
      <p:sp>
        <p:nvSpPr>
          <p:cNvPr id="17" name="Text 15"/>
          <p:cNvSpPr/>
          <p:nvPr/>
        </p:nvSpPr>
        <p:spPr>
          <a:xfrm>
            <a:off x="2011680" y="2011680"/>
            <a:ext cx="1645920" cy="320040"/>
          </a:xfrm>
          <a:prstGeom prst="rect">
            <a:avLst/>
          </a:prstGeom>
          <a:noFill/>
          <a:ln/>
        </p:spPr>
        <p:txBody>
          <a:bodyPr wrap="square" lIns="0" tIns="0" rIns="0" bIns="0" rtlCol="0" anchor="ctr"/>
          <a:lstStyle/>
          <a:p>
            <a:pPr marL="0" indent="0" algn="ctr">
              <a:buNone/>
            </a:pPr>
            <a:r>
              <a:rPr lang="en-US" sz="1200" b="1" dirty="0">
                <a:solidFill>
                  <a:srgbClr val="E67E22"/>
                </a:solidFill>
                <a:latin typeface="Trebuchet MS" pitchFamily="34" charset="0"/>
                <a:ea typeface="Trebuchet MS" pitchFamily="34" charset="-122"/>
                <a:cs typeface="Trebuchet MS" pitchFamily="34" charset="-120"/>
              </a:rPr>
              <a:t>VALIDATE</a:t>
            </a:r>
            <a:endParaRPr lang="en-US" sz="1200" dirty="0"/>
          </a:p>
        </p:txBody>
      </p:sp>
      <p:sp>
        <p:nvSpPr>
          <p:cNvPr id="18" name="Text 16"/>
          <p:cNvSpPr/>
          <p:nvPr/>
        </p:nvSpPr>
        <p:spPr>
          <a:xfrm>
            <a:off x="2103120" y="2331720"/>
            <a:ext cx="1463040" cy="502920"/>
          </a:xfrm>
          <a:prstGeom prst="rect">
            <a:avLst/>
          </a:prstGeom>
          <a:noFill/>
          <a:ln/>
        </p:spPr>
        <p:txBody>
          <a:bodyPr wrap="square" lIns="0" tIns="0" rIns="0" bIns="0" rtlCol="0" anchor="ctr"/>
          <a:lstStyle/>
          <a:p>
            <a:pPr marL="0" indent="0" algn="ctr">
              <a:buNone/>
            </a:pPr>
            <a:r>
              <a:rPr lang="en-US" sz="1000" dirty="0">
                <a:solidFill>
                  <a:srgbClr val="2C3E50"/>
                </a:solidFill>
                <a:latin typeface="Calibri" pitchFamily="34" charset="0"/>
                <a:ea typeface="Calibri" pitchFamily="34" charset="-122"/>
                <a:cs typeface="Calibri" pitchFamily="34" charset="-120"/>
              </a:rPr>
              <a:t>Audit for quality</a:t>
            </a:r>
            <a:endParaRPr lang="en-US" sz="1000" dirty="0"/>
          </a:p>
          <a:p>
            <a:pPr marL="0" indent="0" algn="ctr">
              <a:buNone/>
            </a:pPr>
            <a:r>
              <a:rPr lang="en-US" sz="1000" dirty="0">
                <a:solidFill>
                  <a:srgbClr val="2C3E50"/>
                </a:solidFill>
                <a:latin typeface="Calibri" pitchFamily="34" charset="0"/>
                <a:ea typeface="Calibri" pitchFamily="34" charset="-122"/>
                <a:cs typeface="Calibri" pitchFamily="34" charset="-120"/>
              </a:rPr>
              <a:t>issues &amp; anomalies</a:t>
            </a:r>
            <a:endParaRPr lang="en-US" sz="1000" dirty="0"/>
          </a:p>
        </p:txBody>
      </p:sp>
      <p:sp>
        <p:nvSpPr>
          <p:cNvPr id="19" name="Shape 17"/>
          <p:cNvSpPr/>
          <p:nvPr/>
        </p:nvSpPr>
        <p:spPr>
          <a:xfrm>
            <a:off x="2194560" y="2880360"/>
            <a:ext cx="1280160" cy="0"/>
          </a:xfrm>
          <a:prstGeom prst="line">
            <a:avLst/>
          </a:prstGeom>
          <a:noFill/>
          <a:ln w="6350">
            <a:solidFill>
              <a:srgbClr val="E0E0E0"/>
            </a:solidFill>
            <a:prstDash val="solid"/>
          </a:ln>
        </p:spPr>
        <p:txBody>
          <a:bodyPr/>
          <a:lstStyle/>
          <a:p>
            <a:endParaRPr lang="en-US"/>
          </a:p>
        </p:txBody>
      </p:sp>
      <p:sp>
        <p:nvSpPr>
          <p:cNvPr id="20" name="Text 18"/>
          <p:cNvSpPr/>
          <p:nvPr/>
        </p:nvSpPr>
        <p:spPr>
          <a:xfrm>
            <a:off x="2103120" y="2971800"/>
            <a:ext cx="1463040" cy="914400"/>
          </a:xfrm>
          <a:prstGeom prst="rect">
            <a:avLst/>
          </a:prstGeom>
          <a:noFill/>
          <a:ln/>
        </p:spPr>
        <p:txBody>
          <a:bodyPr wrap="square" lIns="0" tIns="0" rIns="0" bIns="0" rtlCol="0" anchor="ctr"/>
          <a:lstStyle/>
          <a:p>
            <a:pPr marL="0" indent="0" algn="ctr">
              <a:buNone/>
            </a:pPr>
            <a:r>
              <a:rPr lang="en-US" sz="900" dirty="0">
                <a:solidFill>
                  <a:srgbClr val="95A5A6"/>
                </a:solidFill>
                <a:latin typeface="Calibri" pitchFamily="34" charset="0"/>
                <a:ea typeface="Calibri" pitchFamily="34" charset="-122"/>
                <a:cs typeface="Calibri" pitchFamily="34" charset="-120"/>
              </a:rPr>
              <a:t>Null detection: 10.3%</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Negative filter: 6,531</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Type casting fixes</a:t>
            </a:r>
            <a:endParaRPr lang="en-US" sz="900" dirty="0"/>
          </a:p>
        </p:txBody>
      </p:sp>
      <p:sp>
        <p:nvSpPr>
          <p:cNvPr id="21" name="Shape 19"/>
          <p:cNvSpPr/>
          <p:nvPr/>
        </p:nvSpPr>
        <p:spPr>
          <a:xfrm>
            <a:off x="4297680" y="1051560"/>
            <a:ext cx="640080" cy="640080"/>
          </a:xfrm>
          <a:prstGeom prst="ellipse">
            <a:avLst/>
          </a:prstGeom>
          <a:solidFill>
            <a:srgbClr val="27AE60"/>
          </a:solidFill>
          <a:ln/>
        </p:spPr>
        <p:txBody>
          <a:bodyPr/>
          <a:lstStyle/>
          <a:p>
            <a:endParaRPr lang="en-US"/>
          </a:p>
        </p:txBody>
      </p:sp>
      <p:sp>
        <p:nvSpPr>
          <p:cNvPr id="22" name="Text 20"/>
          <p:cNvSpPr/>
          <p:nvPr/>
        </p:nvSpPr>
        <p:spPr>
          <a:xfrm>
            <a:off x="4297680" y="1051560"/>
            <a:ext cx="640080" cy="64008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3</a:t>
            </a:r>
            <a:endParaRPr lang="en-US" sz="2200" dirty="0"/>
          </a:p>
        </p:txBody>
      </p:sp>
      <p:sp>
        <p:nvSpPr>
          <p:cNvPr id="23" name="Text 21"/>
          <p:cNvSpPr/>
          <p:nvPr/>
        </p:nvSpPr>
        <p:spPr>
          <a:xfrm>
            <a:off x="5257800" y="1097280"/>
            <a:ext cx="365760" cy="548640"/>
          </a:xfrm>
          <a:prstGeom prst="rect">
            <a:avLst/>
          </a:prstGeom>
          <a:noFill/>
          <a:ln/>
        </p:spPr>
        <p:txBody>
          <a:bodyPr wrap="square" rtlCol="0" anchor="ctr"/>
          <a:lstStyle/>
          <a:p>
            <a:pPr marL="0" indent="0" algn="ctr">
              <a:buNone/>
            </a:pPr>
            <a:r>
              <a:rPr lang="en-US" sz="2000" dirty="0">
                <a:solidFill>
                  <a:srgbClr val="95A5A6"/>
                </a:solidFill>
              </a:rPr>
              <a:t>→</a:t>
            </a:r>
            <a:endParaRPr lang="en-US" sz="2000" dirty="0"/>
          </a:p>
        </p:txBody>
      </p:sp>
      <p:sp>
        <p:nvSpPr>
          <p:cNvPr id="24" name="Shape 22"/>
          <p:cNvSpPr/>
          <p:nvPr/>
        </p:nvSpPr>
        <p:spPr>
          <a:xfrm>
            <a:off x="3794760" y="1920240"/>
            <a:ext cx="164592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25" name="Shape 23"/>
          <p:cNvSpPr/>
          <p:nvPr/>
        </p:nvSpPr>
        <p:spPr>
          <a:xfrm>
            <a:off x="3794760" y="1920240"/>
            <a:ext cx="1645920" cy="54864"/>
          </a:xfrm>
          <a:prstGeom prst="rect">
            <a:avLst/>
          </a:prstGeom>
          <a:solidFill>
            <a:srgbClr val="27AE60"/>
          </a:solidFill>
          <a:ln/>
        </p:spPr>
        <p:txBody>
          <a:bodyPr/>
          <a:lstStyle/>
          <a:p>
            <a:endParaRPr lang="en-US"/>
          </a:p>
        </p:txBody>
      </p:sp>
      <p:sp>
        <p:nvSpPr>
          <p:cNvPr id="26" name="Text 24"/>
          <p:cNvSpPr/>
          <p:nvPr/>
        </p:nvSpPr>
        <p:spPr>
          <a:xfrm>
            <a:off x="3794760" y="2011680"/>
            <a:ext cx="1645920" cy="320040"/>
          </a:xfrm>
          <a:prstGeom prst="rect">
            <a:avLst/>
          </a:prstGeom>
          <a:noFill/>
          <a:ln/>
        </p:spPr>
        <p:txBody>
          <a:bodyPr wrap="square" lIns="0" tIns="0" rIns="0" bIns="0" rtlCol="0" anchor="ctr"/>
          <a:lstStyle/>
          <a:p>
            <a:pPr marL="0" indent="0" algn="ctr">
              <a:buNone/>
            </a:pPr>
            <a:r>
              <a:rPr lang="en-US" sz="1200" b="1" dirty="0">
                <a:solidFill>
                  <a:srgbClr val="27AE60"/>
                </a:solidFill>
                <a:latin typeface="Trebuchet MS" pitchFamily="34" charset="0"/>
                <a:ea typeface="Trebuchet MS" pitchFamily="34" charset="-122"/>
                <a:cs typeface="Trebuchet MS" pitchFamily="34" charset="-120"/>
              </a:rPr>
              <a:t>CLEAN</a:t>
            </a:r>
            <a:endParaRPr lang="en-US" sz="1200" dirty="0"/>
          </a:p>
        </p:txBody>
      </p:sp>
      <p:sp>
        <p:nvSpPr>
          <p:cNvPr id="27" name="Text 25"/>
          <p:cNvSpPr/>
          <p:nvPr/>
        </p:nvSpPr>
        <p:spPr>
          <a:xfrm>
            <a:off x="3886200" y="2331720"/>
            <a:ext cx="1463040" cy="502920"/>
          </a:xfrm>
          <a:prstGeom prst="rect">
            <a:avLst/>
          </a:prstGeom>
          <a:noFill/>
          <a:ln/>
        </p:spPr>
        <p:txBody>
          <a:bodyPr wrap="square" lIns="0" tIns="0" rIns="0" bIns="0" rtlCol="0" anchor="ctr"/>
          <a:lstStyle/>
          <a:p>
            <a:pPr marL="0" indent="0" algn="ctr">
              <a:buNone/>
            </a:pPr>
            <a:r>
              <a:rPr lang="en-US" sz="1000" dirty="0">
                <a:solidFill>
                  <a:srgbClr val="2C3E50"/>
                </a:solidFill>
                <a:latin typeface="Calibri" pitchFamily="34" charset="0"/>
                <a:ea typeface="Calibri" pitchFamily="34" charset="-122"/>
                <a:cs typeface="Calibri" pitchFamily="34" charset="-120"/>
              </a:rPr>
              <a:t>Fix issues and</a:t>
            </a:r>
            <a:endParaRPr lang="en-US" sz="1000" dirty="0"/>
          </a:p>
          <a:p>
            <a:pPr marL="0" indent="0" algn="ctr">
              <a:buNone/>
            </a:pPr>
            <a:r>
              <a:rPr lang="en-US" sz="1000" dirty="0">
                <a:solidFill>
                  <a:srgbClr val="2C3E50"/>
                </a:solidFill>
                <a:latin typeface="Calibri" pitchFamily="34" charset="0"/>
                <a:ea typeface="Calibri" pitchFamily="34" charset="-122"/>
                <a:cs typeface="Calibri" pitchFamily="34" charset="-120"/>
              </a:rPr>
              <a:t>standardize data</a:t>
            </a:r>
            <a:endParaRPr lang="en-US" sz="1000" dirty="0"/>
          </a:p>
        </p:txBody>
      </p:sp>
      <p:sp>
        <p:nvSpPr>
          <p:cNvPr id="28" name="Shape 26"/>
          <p:cNvSpPr/>
          <p:nvPr/>
        </p:nvSpPr>
        <p:spPr>
          <a:xfrm>
            <a:off x="3977640" y="2880360"/>
            <a:ext cx="1280160" cy="0"/>
          </a:xfrm>
          <a:prstGeom prst="line">
            <a:avLst/>
          </a:prstGeom>
          <a:noFill/>
          <a:ln w="6350">
            <a:solidFill>
              <a:srgbClr val="E0E0E0"/>
            </a:solidFill>
            <a:prstDash val="solid"/>
          </a:ln>
        </p:spPr>
        <p:txBody>
          <a:bodyPr/>
          <a:lstStyle/>
          <a:p>
            <a:endParaRPr lang="en-US"/>
          </a:p>
        </p:txBody>
      </p:sp>
      <p:sp>
        <p:nvSpPr>
          <p:cNvPr id="29" name="Text 27"/>
          <p:cNvSpPr/>
          <p:nvPr/>
        </p:nvSpPr>
        <p:spPr>
          <a:xfrm>
            <a:off x="3886200" y="2971800"/>
            <a:ext cx="1463040" cy="914400"/>
          </a:xfrm>
          <a:prstGeom prst="rect">
            <a:avLst/>
          </a:prstGeom>
          <a:noFill/>
          <a:ln/>
        </p:spPr>
        <p:txBody>
          <a:bodyPr wrap="square" lIns="0" tIns="0" rIns="0" bIns="0" rtlCol="0" anchor="ctr"/>
          <a:lstStyle/>
          <a:p>
            <a:pPr marL="0" indent="0" algn="ctr">
              <a:buNone/>
            </a:pPr>
            <a:r>
              <a:rPr lang="en-US" sz="900" dirty="0">
                <a:solidFill>
                  <a:srgbClr val="95A5A6"/>
                </a:solidFill>
                <a:latin typeface="Calibri" pitchFamily="34" charset="0"/>
                <a:ea typeface="Calibri" pitchFamily="34" charset="-122"/>
                <a:cs typeface="Calibri" pitchFamily="34" charset="-120"/>
              </a:rPr>
              <a:t>Forward-fill gaps</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Filter invalid ranges</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Convert all to numeric</a:t>
            </a:r>
            <a:endParaRPr lang="en-US" sz="900" dirty="0"/>
          </a:p>
        </p:txBody>
      </p:sp>
      <p:sp>
        <p:nvSpPr>
          <p:cNvPr id="30" name="Shape 28"/>
          <p:cNvSpPr/>
          <p:nvPr/>
        </p:nvSpPr>
        <p:spPr>
          <a:xfrm>
            <a:off x="6080760" y="1051560"/>
            <a:ext cx="640080" cy="640080"/>
          </a:xfrm>
          <a:prstGeom prst="ellipse">
            <a:avLst/>
          </a:prstGeom>
          <a:solidFill>
            <a:srgbClr val="8E44AD"/>
          </a:solidFill>
          <a:ln/>
        </p:spPr>
        <p:txBody>
          <a:bodyPr/>
          <a:lstStyle/>
          <a:p>
            <a:endParaRPr lang="en-US"/>
          </a:p>
        </p:txBody>
      </p:sp>
      <p:sp>
        <p:nvSpPr>
          <p:cNvPr id="31" name="Text 29"/>
          <p:cNvSpPr/>
          <p:nvPr/>
        </p:nvSpPr>
        <p:spPr>
          <a:xfrm>
            <a:off x="6080760" y="1051560"/>
            <a:ext cx="640080" cy="64008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4</a:t>
            </a:r>
            <a:endParaRPr lang="en-US" sz="2200" dirty="0"/>
          </a:p>
        </p:txBody>
      </p:sp>
      <p:sp>
        <p:nvSpPr>
          <p:cNvPr id="32" name="Text 30"/>
          <p:cNvSpPr/>
          <p:nvPr/>
        </p:nvSpPr>
        <p:spPr>
          <a:xfrm>
            <a:off x="7040880" y="1097280"/>
            <a:ext cx="365760" cy="548640"/>
          </a:xfrm>
          <a:prstGeom prst="rect">
            <a:avLst/>
          </a:prstGeom>
          <a:noFill/>
          <a:ln/>
        </p:spPr>
        <p:txBody>
          <a:bodyPr wrap="square" rtlCol="0" anchor="ctr"/>
          <a:lstStyle/>
          <a:p>
            <a:pPr marL="0" indent="0" algn="ctr">
              <a:buNone/>
            </a:pPr>
            <a:r>
              <a:rPr lang="en-US" sz="2000" dirty="0">
                <a:solidFill>
                  <a:srgbClr val="95A5A6"/>
                </a:solidFill>
              </a:rPr>
              <a:t>→</a:t>
            </a:r>
            <a:endParaRPr lang="en-US" sz="2000" dirty="0"/>
          </a:p>
        </p:txBody>
      </p:sp>
      <p:sp>
        <p:nvSpPr>
          <p:cNvPr id="33" name="Shape 31"/>
          <p:cNvSpPr/>
          <p:nvPr/>
        </p:nvSpPr>
        <p:spPr>
          <a:xfrm>
            <a:off x="5577840" y="1920240"/>
            <a:ext cx="164592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34" name="Shape 32"/>
          <p:cNvSpPr/>
          <p:nvPr/>
        </p:nvSpPr>
        <p:spPr>
          <a:xfrm>
            <a:off x="5577840" y="1920240"/>
            <a:ext cx="1645920" cy="54864"/>
          </a:xfrm>
          <a:prstGeom prst="rect">
            <a:avLst/>
          </a:prstGeom>
          <a:solidFill>
            <a:srgbClr val="8E44AD"/>
          </a:solidFill>
          <a:ln/>
        </p:spPr>
        <p:txBody>
          <a:bodyPr/>
          <a:lstStyle/>
          <a:p>
            <a:endParaRPr lang="en-US"/>
          </a:p>
        </p:txBody>
      </p:sp>
      <p:sp>
        <p:nvSpPr>
          <p:cNvPr id="35" name="Text 33"/>
          <p:cNvSpPr/>
          <p:nvPr/>
        </p:nvSpPr>
        <p:spPr>
          <a:xfrm>
            <a:off x="5577840" y="2011680"/>
            <a:ext cx="1645920" cy="320040"/>
          </a:xfrm>
          <a:prstGeom prst="rect">
            <a:avLst/>
          </a:prstGeom>
          <a:noFill/>
          <a:ln/>
        </p:spPr>
        <p:txBody>
          <a:bodyPr wrap="square" lIns="0" tIns="0" rIns="0" bIns="0" rtlCol="0" anchor="ctr"/>
          <a:lstStyle/>
          <a:p>
            <a:pPr marL="0" indent="0" algn="ctr">
              <a:buNone/>
            </a:pPr>
            <a:r>
              <a:rPr lang="en-US" sz="1200" b="1" dirty="0">
                <a:solidFill>
                  <a:srgbClr val="8E44AD"/>
                </a:solidFill>
                <a:latin typeface="Trebuchet MS" pitchFamily="34" charset="0"/>
                <a:ea typeface="Trebuchet MS" pitchFamily="34" charset="-122"/>
                <a:cs typeface="Trebuchet MS" pitchFamily="34" charset="-120"/>
              </a:rPr>
              <a:t>ALIGN</a:t>
            </a:r>
            <a:endParaRPr lang="en-US" sz="1200" dirty="0"/>
          </a:p>
        </p:txBody>
      </p:sp>
      <p:sp>
        <p:nvSpPr>
          <p:cNvPr id="36" name="Text 34"/>
          <p:cNvSpPr/>
          <p:nvPr/>
        </p:nvSpPr>
        <p:spPr>
          <a:xfrm>
            <a:off x="5669280" y="2331720"/>
            <a:ext cx="1463040" cy="502920"/>
          </a:xfrm>
          <a:prstGeom prst="rect">
            <a:avLst/>
          </a:prstGeom>
          <a:noFill/>
          <a:ln/>
        </p:spPr>
        <p:txBody>
          <a:bodyPr wrap="square" lIns="0" tIns="0" rIns="0" bIns="0" rtlCol="0" anchor="ctr"/>
          <a:lstStyle/>
          <a:p>
            <a:pPr marL="0" indent="0" algn="ctr">
              <a:buNone/>
            </a:pPr>
            <a:r>
              <a:rPr lang="en-US" sz="1000" dirty="0">
                <a:solidFill>
                  <a:srgbClr val="2C3E50"/>
                </a:solidFill>
                <a:latin typeface="Calibri" pitchFamily="34" charset="0"/>
                <a:ea typeface="Calibri" pitchFamily="34" charset="-122"/>
                <a:cs typeface="Calibri" pitchFamily="34" charset="-120"/>
              </a:rPr>
              <a:t>Resample to</a:t>
            </a:r>
            <a:endParaRPr lang="en-US" sz="1000" dirty="0"/>
          </a:p>
          <a:p>
            <a:pPr marL="0" indent="0" algn="ctr">
              <a:buNone/>
            </a:pPr>
            <a:r>
              <a:rPr lang="en-US" sz="1000" dirty="0">
                <a:solidFill>
                  <a:srgbClr val="2C3E50"/>
                </a:solidFill>
                <a:latin typeface="Calibri" pitchFamily="34" charset="0"/>
                <a:ea typeface="Calibri" pitchFamily="34" charset="-122"/>
                <a:cs typeface="Calibri" pitchFamily="34" charset="-120"/>
              </a:rPr>
              <a:t>weekly (Monday)</a:t>
            </a:r>
            <a:endParaRPr lang="en-US" sz="1000" dirty="0"/>
          </a:p>
        </p:txBody>
      </p:sp>
      <p:sp>
        <p:nvSpPr>
          <p:cNvPr id="37" name="Shape 35"/>
          <p:cNvSpPr/>
          <p:nvPr/>
        </p:nvSpPr>
        <p:spPr>
          <a:xfrm>
            <a:off x="5760720" y="2880360"/>
            <a:ext cx="1280160" cy="0"/>
          </a:xfrm>
          <a:prstGeom prst="line">
            <a:avLst/>
          </a:prstGeom>
          <a:noFill/>
          <a:ln w="6350">
            <a:solidFill>
              <a:srgbClr val="E0E0E0"/>
            </a:solidFill>
            <a:prstDash val="solid"/>
          </a:ln>
        </p:spPr>
        <p:txBody>
          <a:bodyPr/>
          <a:lstStyle/>
          <a:p>
            <a:endParaRPr lang="en-US"/>
          </a:p>
        </p:txBody>
      </p:sp>
      <p:sp>
        <p:nvSpPr>
          <p:cNvPr id="38" name="Text 36"/>
          <p:cNvSpPr/>
          <p:nvPr/>
        </p:nvSpPr>
        <p:spPr>
          <a:xfrm>
            <a:off x="5669280" y="2971800"/>
            <a:ext cx="1463040" cy="914400"/>
          </a:xfrm>
          <a:prstGeom prst="rect">
            <a:avLst/>
          </a:prstGeom>
          <a:noFill/>
          <a:ln/>
        </p:spPr>
        <p:txBody>
          <a:bodyPr wrap="square" lIns="0" tIns="0" rIns="0" bIns="0" rtlCol="0" anchor="ctr"/>
          <a:lstStyle/>
          <a:p>
            <a:pPr marL="0" indent="0" algn="ctr">
              <a:buNone/>
            </a:pPr>
            <a:r>
              <a:rPr lang="en-US" sz="900" dirty="0">
                <a:solidFill>
                  <a:srgbClr val="95A5A6"/>
                </a:solidFill>
                <a:latin typeface="Calibri" pitchFamily="34" charset="0"/>
                <a:ea typeface="Calibri" pitchFamily="34" charset="-122"/>
                <a:cs typeface="Calibri" pitchFamily="34" charset="-120"/>
              </a:rPr>
              <a:t>Daily → weekly mean</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Monthly → forward-fill</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All on same time axis</a:t>
            </a:r>
            <a:endParaRPr lang="en-US" sz="900" dirty="0"/>
          </a:p>
        </p:txBody>
      </p:sp>
      <p:sp>
        <p:nvSpPr>
          <p:cNvPr id="39" name="Shape 37"/>
          <p:cNvSpPr/>
          <p:nvPr/>
        </p:nvSpPr>
        <p:spPr>
          <a:xfrm>
            <a:off x="7863840" y="1051560"/>
            <a:ext cx="640080" cy="640080"/>
          </a:xfrm>
          <a:prstGeom prst="ellipse">
            <a:avLst/>
          </a:prstGeom>
          <a:solidFill>
            <a:srgbClr val="E74C3C"/>
          </a:solidFill>
          <a:ln/>
        </p:spPr>
        <p:txBody>
          <a:bodyPr/>
          <a:lstStyle/>
          <a:p>
            <a:endParaRPr lang="en-US"/>
          </a:p>
        </p:txBody>
      </p:sp>
      <p:sp>
        <p:nvSpPr>
          <p:cNvPr id="40" name="Text 38"/>
          <p:cNvSpPr/>
          <p:nvPr/>
        </p:nvSpPr>
        <p:spPr>
          <a:xfrm>
            <a:off x="7863840" y="1051560"/>
            <a:ext cx="640080" cy="640080"/>
          </a:xfrm>
          <a:prstGeom prst="rect">
            <a:avLst/>
          </a:prstGeom>
          <a:noFill/>
          <a:ln/>
        </p:spPr>
        <p:txBody>
          <a:bodyPr wrap="square" rtlCol="0" anchor="ctr"/>
          <a:lstStyle/>
          <a:p>
            <a:pPr marL="0" indent="0" algn="ctr">
              <a:buNone/>
            </a:pPr>
            <a:r>
              <a:rPr lang="en-US" sz="2200" b="1" dirty="0">
                <a:solidFill>
                  <a:srgbClr val="FFFFFF"/>
                </a:solidFill>
                <a:latin typeface="Trebuchet MS" pitchFamily="34" charset="0"/>
                <a:ea typeface="Trebuchet MS" pitchFamily="34" charset="-122"/>
                <a:cs typeface="Trebuchet MS" pitchFamily="34" charset="-120"/>
              </a:rPr>
              <a:t>5</a:t>
            </a:r>
            <a:endParaRPr lang="en-US" sz="2200" dirty="0"/>
          </a:p>
        </p:txBody>
      </p:sp>
      <p:sp>
        <p:nvSpPr>
          <p:cNvPr id="41" name="Shape 39"/>
          <p:cNvSpPr/>
          <p:nvPr/>
        </p:nvSpPr>
        <p:spPr>
          <a:xfrm>
            <a:off x="7360920" y="1920240"/>
            <a:ext cx="1645920" cy="283464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2" name="Shape 40"/>
          <p:cNvSpPr/>
          <p:nvPr/>
        </p:nvSpPr>
        <p:spPr>
          <a:xfrm>
            <a:off x="7360920" y="1920240"/>
            <a:ext cx="1645920" cy="54864"/>
          </a:xfrm>
          <a:prstGeom prst="rect">
            <a:avLst/>
          </a:prstGeom>
          <a:solidFill>
            <a:srgbClr val="E74C3C"/>
          </a:solidFill>
          <a:ln/>
        </p:spPr>
        <p:txBody>
          <a:bodyPr/>
          <a:lstStyle/>
          <a:p>
            <a:endParaRPr lang="en-US"/>
          </a:p>
        </p:txBody>
      </p:sp>
      <p:sp>
        <p:nvSpPr>
          <p:cNvPr id="43" name="Text 41"/>
          <p:cNvSpPr/>
          <p:nvPr/>
        </p:nvSpPr>
        <p:spPr>
          <a:xfrm>
            <a:off x="7360920" y="2011680"/>
            <a:ext cx="1645920" cy="320040"/>
          </a:xfrm>
          <a:prstGeom prst="rect">
            <a:avLst/>
          </a:prstGeom>
          <a:noFill/>
          <a:ln/>
        </p:spPr>
        <p:txBody>
          <a:bodyPr wrap="square" lIns="0" tIns="0" rIns="0" bIns="0" rtlCol="0" anchor="ctr"/>
          <a:lstStyle/>
          <a:p>
            <a:pPr marL="0" indent="0" algn="ctr">
              <a:buNone/>
            </a:pPr>
            <a:r>
              <a:rPr lang="en-US" sz="1200" b="1" dirty="0">
                <a:solidFill>
                  <a:srgbClr val="E74C3C"/>
                </a:solidFill>
                <a:latin typeface="Trebuchet MS" pitchFamily="34" charset="0"/>
                <a:ea typeface="Trebuchet MS" pitchFamily="34" charset="-122"/>
                <a:cs typeface="Trebuchet MS" pitchFamily="34" charset="-120"/>
              </a:rPr>
              <a:t>MERGE</a:t>
            </a:r>
            <a:endParaRPr lang="en-US" sz="1200" dirty="0"/>
          </a:p>
        </p:txBody>
      </p:sp>
      <p:sp>
        <p:nvSpPr>
          <p:cNvPr id="44" name="Text 42"/>
          <p:cNvSpPr/>
          <p:nvPr/>
        </p:nvSpPr>
        <p:spPr>
          <a:xfrm>
            <a:off x="7452360" y="2331720"/>
            <a:ext cx="1463040" cy="502920"/>
          </a:xfrm>
          <a:prstGeom prst="rect">
            <a:avLst/>
          </a:prstGeom>
          <a:noFill/>
          <a:ln/>
        </p:spPr>
        <p:txBody>
          <a:bodyPr wrap="square" lIns="0" tIns="0" rIns="0" bIns="0" rtlCol="0" anchor="ctr"/>
          <a:lstStyle/>
          <a:p>
            <a:pPr marL="0" indent="0" algn="ctr">
              <a:buNone/>
            </a:pPr>
            <a:r>
              <a:rPr lang="en-US" sz="1000" dirty="0">
                <a:solidFill>
                  <a:srgbClr val="2C3E50"/>
                </a:solidFill>
                <a:latin typeface="Calibri" pitchFamily="34" charset="0"/>
                <a:ea typeface="Calibri" pitchFamily="34" charset="-122"/>
                <a:cs typeface="Calibri" pitchFamily="34" charset="-120"/>
              </a:rPr>
              <a:t>Join all sources</a:t>
            </a:r>
            <a:endParaRPr lang="en-US" sz="1000" dirty="0"/>
          </a:p>
          <a:p>
            <a:pPr marL="0" indent="0" algn="ctr">
              <a:buNone/>
            </a:pPr>
            <a:r>
              <a:rPr lang="en-US" sz="1000" dirty="0">
                <a:solidFill>
                  <a:srgbClr val="2C3E50"/>
                </a:solidFill>
                <a:latin typeface="Calibri" pitchFamily="34" charset="0"/>
                <a:ea typeface="Calibri" pitchFamily="34" charset="-122"/>
                <a:cs typeface="Calibri" pitchFamily="34" charset="-120"/>
              </a:rPr>
              <a:t>into one dataset</a:t>
            </a:r>
            <a:endParaRPr lang="en-US" sz="1000" dirty="0"/>
          </a:p>
        </p:txBody>
      </p:sp>
      <p:sp>
        <p:nvSpPr>
          <p:cNvPr id="45" name="Shape 43"/>
          <p:cNvSpPr/>
          <p:nvPr/>
        </p:nvSpPr>
        <p:spPr>
          <a:xfrm>
            <a:off x="7543800" y="2880360"/>
            <a:ext cx="1280160" cy="0"/>
          </a:xfrm>
          <a:prstGeom prst="line">
            <a:avLst/>
          </a:prstGeom>
          <a:noFill/>
          <a:ln w="6350">
            <a:solidFill>
              <a:srgbClr val="E0E0E0"/>
            </a:solidFill>
            <a:prstDash val="solid"/>
          </a:ln>
        </p:spPr>
        <p:txBody>
          <a:bodyPr/>
          <a:lstStyle/>
          <a:p>
            <a:endParaRPr lang="en-US"/>
          </a:p>
        </p:txBody>
      </p:sp>
      <p:sp>
        <p:nvSpPr>
          <p:cNvPr id="46" name="Text 44"/>
          <p:cNvSpPr/>
          <p:nvPr/>
        </p:nvSpPr>
        <p:spPr>
          <a:xfrm>
            <a:off x="7452360" y="2971800"/>
            <a:ext cx="1463040" cy="914400"/>
          </a:xfrm>
          <a:prstGeom prst="rect">
            <a:avLst/>
          </a:prstGeom>
          <a:noFill/>
          <a:ln/>
        </p:spPr>
        <p:txBody>
          <a:bodyPr wrap="square" lIns="0" tIns="0" rIns="0" bIns="0" rtlCol="0" anchor="ctr"/>
          <a:lstStyle/>
          <a:p>
            <a:pPr marL="0" indent="0" algn="ctr">
              <a:buNone/>
            </a:pPr>
            <a:r>
              <a:rPr lang="en-US" sz="900" dirty="0">
                <a:solidFill>
                  <a:srgbClr val="95A5A6"/>
                </a:solidFill>
                <a:latin typeface="Calibri" pitchFamily="34" charset="0"/>
                <a:ea typeface="Calibri" pitchFamily="34" charset="-122"/>
                <a:cs typeface="Calibri" pitchFamily="34" charset="-120"/>
              </a:rPr>
              <a:t>Left-join on date index</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Handle column overlaps</a:t>
            </a:r>
            <a:endParaRPr lang="en-US" sz="900" dirty="0"/>
          </a:p>
          <a:p>
            <a:pPr marL="0" indent="0" algn="ctr">
              <a:buNone/>
            </a:pPr>
            <a:r>
              <a:rPr lang="en-US" sz="900" dirty="0">
                <a:solidFill>
                  <a:srgbClr val="95A5A6"/>
                </a:solidFill>
                <a:latin typeface="Calibri" pitchFamily="34" charset="0"/>
                <a:ea typeface="Calibri" pitchFamily="34" charset="-122"/>
                <a:cs typeface="Calibri" pitchFamily="34" charset="-120"/>
              </a:rPr>
              <a:t>~1,300 weeks × 30+ cols</a:t>
            </a:r>
            <a:endParaRPr lang="en-US" sz="900" dirty="0"/>
          </a:p>
        </p:txBody>
      </p:sp>
    </p:spTree>
    <p:extLst>
      <p:ext uri="{BB962C8B-B14F-4D97-AF65-F5344CB8AC3E}">
        <p14:creationId xmlns:p14="http://schemas.microsoft.com/office/powerpoint/2010/main" val="2525165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Data Extract.</a:t>
            </a:r>
            <a:endParaRPr lang="en-US" sz="3200" dirty="0"/>
          </a:p>
        </p:txBody>
      </p:sp>
      <p:sp>
        <p:nvSpPr>
          <p:cNvPr id="3" name="Shape 1"/>
          <p:cNvSpPr/>
          <p:nvPr/>
        </p:nvSpPr>
        <p:spPr>
          <a:xfrm>
            <a:off x="640080" y="1097280"/>
            <a:ext cx="7186564" cy="3200400"/>
          </a:xfrm>
          <a:prstGeom prst="rect">
            <a:avLst/>
          </a:prstGeom>
          <a:solidFill>
            <a:srgbClr val="E8ECF0"/>
          </a:solidFill>
          <a:ln w="12700">
            <a:solidFill>
              <a:srgbClr val="95A5A6"/>
            </a:solidFill>
            <a:prstDash val="dash"/>
          </a:ln>
        </p:spPr>
        <p:txBody>
          <a:bodyPr/>
          <a:lstStyle/>
          <a:p>
            <a:endParaRPr lang="en-US"/>
          </a:p>
        </p:txBody>
      </p:sp>
      <p:sp>
        <p:nvSpPr>
          <p:cNvPr id="4" name="Text 2"/>
          <p:cNvSpPr/>
          <p:nvPr/>
        </p:nvSpPr>
        <p:spPr>
          <a:xfrm>
            <a:off x="640080" y="2286000"/>
            <a:ext cx="7863840" cy="548640"/>
          </a:xfrm>
          <a:prstGeom prst="rect">
            <a:avLst/>
          </a:prstGeom>
          <a:noFill/>
          <a:ln/>
        </p:spPr>
        <p:txBody>
          <a:bodyPr wrap="square" rtlCol="0" anchor="ctr"/>
          <a:lstStyle/>
          <a:p>
            <a:pPr marL="0" indent="0" algn="ctr">
              <a:buNone/>
            </a:pPr>
            <a:r>
              <a:rPr lang="en-US" sz="1600" dirty="0">
                <a:solidFill>
                  <a:srgbClr val="95A5A6"/>
                </a:solidFill>
                <a:latin typeface="Calibri" pitchFamily="34" charset="0"/>
                <a:ea typeface="Calibri" pitchFamily="34" charset="-122"/>
                <a:cs typeface="Calibri" pitchFamily="34" charset="-120"/>
              </a:rPr>
              <a:t>[ INSERT: P2_crude_vs_retail.png from your outputs/ folder ]</a:t>
            </a:r>
            <a:endParaRPr lang="en-US" sz="1600" dirty="0"/>
          </a:p>
        </p:txBody>
      </p:sp>
      <p:sp>
        <p:nvSpPr>
          <p:cNvPr id="5" name="Text 3"/>
          <p:cNvSpPr/>
          <p:nvPr/>
        </p:nvSpPr>
        <p:spPr>
          <a:xfrm>
            <a:off x="640080" y="4434840"/>
            <a:ext cx="7863840" cy="548640"/>
          </a:xfrm>
          <a:prstGeom prst="rect">
            <a:avLst/>
          </a:prstGeom>
          <a:noFill/>
          <a:ln/>
        </p:spPr>
        <p:txBody>
          <a:bodyPr wrap="square" rtlCol="0" anchor="ctr"/>
          <a:lstStyle/>
          <a:p>
            <a:pPr marL="0" indent="0">
              <a:buNone/>
            </a:pPr>
            <a:endParaRPr lang="en-US" sz="1200" dirty="0"/>
          </a:p>
        </p:txBody>
      </p:sp>
      <p:pic>
        <p:nvPicPr>
          <p:cNvPr id="6" name="Picture 5" descr="A screenshot of a data&#10;&#10;Description automatically generated">
            <a:extLst>
              <a:ext uri="{FF2B5EF4-FFF2-40B4-BE49-F238E27FC236}">
                <a16:creationId xmlns:a16="http://schemas.microsoft.com/office/drawing/2014/main" id="{5FC7A386-FA3C-DAE2-E3E1-04D32B122BE1}"/>
              </a:ext>
            </a:extLst>
          </p:cNvPr>
          <p:cNvPicPr>
            <a:picLocks noChangeAspect="1"/>
          </p:cNvPicPr>
          <p:nvPr/>
        </p:nvPicPr>
        <p:blipFill>
          <a:blip r:embed="rId3"/>
          <a:stretch>
            <a:fillRect/>
          </a:stretch>
        </p:blipFill>
        <p:spPr>
          <a:xfrm>
            <a:off x="640080" y="1097281"/>
            <a:ext cx="7326049" cy="3200399"/>
          </a:xfrm>
          <a:prstGeom prst="rect">
            <a:avLst/>
          </a:prstGeom>
        </p:spPr>
      </p:pic>
    </p:spTree>
    <p:extLst>
      <p:ext uri="{BB962C8B-B14F-4D97-AF65-F5344CB8AC3E}">
        <p14:creationId xmlns:p14="http://schemas.microsoft.com/office/powerpoint/2010/main" val="30424079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Data Validation: Issues Found in Raw Data</a:t>
            </a:r>
            <a:endParaRPr lang="en-US" sz="2600" dirty="0"/>
          </a:p>
        </p:txBody>
      </p:sp>
      <p:sp>
        <p:nvSpPr>
          <p:cNvPr id="3" name="Text 1"/>
          <p:cNvSpPr/>
          <p:nvPr/>
        </p:nvSpPr>
        <p:spPr>
          <a:xfrm>
            <a:off x="640080" y="777240"/>
            <a:ext cx="7863840" cy="320040"/>
          </a:xfrm>
          <a:prstGeom prst="rect">
            <a:avLst/>
          </a:prstGeom>
          <a:noFill/>
          <a:ln/>
        </p:spPr>
        <p:txBody>
          <a:bodyPr wrap="square" rtlCol="0" anchor="ctr"/>
          <a:lstStyle/>
          <a:p>
            <a:pPr marL="0" indent="0">
              <a:buNone/>
            </a:pPr>
            <a:r>
              <a:rPr lang="en-US" sz="1300" dirty="0">
                <a:solidFill>
                  <a:srgbClr val="7F8C8D"/>
                </a:solidFill>
                <a:latin typeface="Calibri" pitchFamily="34" charset="0"/>
                <a:ea typeface="Calibri" pitchFamily="34" charset="-122"/>
                <a:cs typeface="Calibri" pitchFamily="34" charset="-120"/>
              </a:rPr>
              <a:t>Before any analysis, we audited all 12 raw datasets for quality problems:</a:t>
            </a:r>
            <a:endParaRPr lang="en-US" sz="1300" dirty="0"/>
          </a:p>
        </p:txBody>
      </p:sp>
      <p:sp>
        <p:nvSpPr>
          <p:cNvPr id="4" name="Shape 2"/>
          <p:cNvSpPr/>
          <p:nvPr/>
        </p:nvSpPr>
        <p:spPr>
          <a:xfrm>
            <a:off x="457200" y="1371600"/>
            <a:ext cx="402336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457200" y="1371600"/>
            <a:ext cx="4023360" cy="54864"/>
          </a:xfrm>
          <a:prstGeom prst="rect">
            <a:avLst/>
          </a:prstGeom>
          <a:solidFill>
            <a:srgbClr val="E74C3C"/>
          </a:solidFill>
          <a:ln/>
        </p:spPr>
        <p:txBody>
          <a:bodyPr/>
          <a:lstStyle/>
          <a:p>
            <a:endParaRPr lang="en-US"/>
          </a:p>
        </p:txBody>
      </p:sp>
      <p:sp>
        <p:nvSpPr>
          <p:cNvPr id="6" name="Text 4"/>
          <p:cNvSpPr/>
          <p:nvPr/>
        </p:nvSpPr>
        <p:spPr>
          <a:xfrm>
            <a:off x="594360" y="1463040"/>
            <a:ext cx="3749040" cy="27432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Refinery Utilization: 10.3% Null Values</a:t>
            </a:r>
            <a:endParaRPr lang="en-US" sz="1100" dirty="0"/>
          </a:p>
        </p:txBody>
      </p:sp>
      <p:sp>
        <p:nvSpPr>
          <p:cNvPr id="7" name="Text 5"/>
          <p:cNvSpPr/>
          <p:nvPr/>
        </p:nvSpPr>
        <p:spPr>
          <a:xfrm>
            <a:off x="594360" y="1783080"/>
            <a:ext cx="3749040" cy="457200"/>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Problem: </a:t>
            </a:r>
            <a:r>
              <a:rPr lang="en-US" sz="1000" dirty="0">
                <a:solidFill>
                  <a:srgbClr val="7F8C8D"/>
                </a:solidFill>
                <a:latin typeface="Calibri" pitchFamily="34" charset="0"/>
                <a:ea typeface="Calibri" pitchFamily="34" charset="-122"/>
                <a:cs typeface="Calibri" pitchFamily="34" charset="-120"/>
              </a:rPr>
              <a:t>7,372 rows had missing values — some PADD regions don't report every week, plus gaps during holidays and reporting delays.</a:t>
            </a:r>
            <a:endParaRPr lang="en-US" sz="1000" dirty="0"/>
          </a:p>
        </p:txBody>
      </p:sp>
      <p:sp>
        <p:nvSpPr>
          <p:cNvPr id="8" name="Text 6"/>
          <p:cNvSpPr/>
          <p:nvPr/>
        </p:nvSpPr>
        <p:spPr>
          <a:xfrm>
            <a:off x="594360" y="2286000"/>
            <a:ext cx="3749040" cy="502920"/>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Fix: </a:t>
            </a:r>
            <a:r>
              <a:rPr lang="en-US" sz="1000" dirty="0">
                <a:solidFill>
                  <a:srgbClr val="7F8C8D"/>
                </a:solidFill>
                <a:latin typeface="Calibri" pitchFamily="34" charset="0"/>
                <a:ea typeface="Calibri" pitchFamily="34" charset="-122"/>
                <a:cs typeface="Calibri" pitchFamily="34" charset="-120"/>
              </a:rPr>
              <a:t>Forward-filled gaps up to 4 weeks. Dropped rows beyond that threshold to avoid fabricating data.</a:t>
            </a:r>
            <a:endParaRPr lang="en-US" sz="1000" dirty="0"/>
          </a:p>
        </p:txBody>
      </p:sp>
      <p:sp>
        <p:nvSpPr>
          <p:cNvPr id="9" name="Shape 7"/>
          <p:cNvSpPr/>
          <p:nvPr/>
        </p:nvSpPr>
        <p:spPr>
          <a:xfrm>
            <a:off x="457200" y="3108960"/>
            <a:ext cx="402336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0" name="Shape 8"/>
          <p:cNvSpPr/>
          <p:nvPr/>
        </p:nvSpPr>
        <p:spPr>
          <a:xfrm>
            <a:off x="457200" y="3108960"/>
            <a:ext cx="4023360" cy="54864"/>
          </a:xfrm>
          <a:prstGeom prst="rect">
            <a:avLst/>
          </a:prstGeom>
          <a:solidFill>
            <a:srgbClr val="E67E22"/>
          </a:solidFill>
          <a:ln/>
        </p:spPr>
        <p:txBody>
          <a:bodyPr/>
          <a:lstStyle/>
          <a:p>
            <a:endParaRPr lang="en-US"/>
          </a:p>
        </p:txBody>
      </p:sp>
      <p:sp>
        <p:nvSpPr>
          <p:cNvPr id="11" name="Text 9"/>
          <p:cNvSpPr/>
          <p:nvPr/>
        </p:nvSpPr>
        <p:spPr>
          <a:xfrm>
            <a:off x="594360" y="3200400"/>
            <a:ext cx="3749040" cy="27432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Refinery Utilization: 6,531 Negative Values</a:t>
            </a:r>
            <a:endParaRPr lang="en-US" sz="1100" dirty="0"/>
          </a:p>
        </p:txBody>
      </p:sp>
      <p:sp>
        <p:nvSpPr>
          <p:cNvPr id="12" name="Text 10"/>
          <p:cNvSpPr/>
          <p:nvPr/>
        </p:nvSpPr>
        <p:spPr>
          <a:xfrm>
            <a:off x="594360" y="3520440"/>
            <a:ext cx="3749040" cy="457200"/>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Problem: </a:t>
            </a:r>
            <a:r>
              <a:rPr lang="en-US" sz="1000" dirty="0">
                <a:solidFill>
                  <a:srgbClr val="7F8C8D"/>
                </a:solidFill>
                <a:latin typeface="Calibri" pitchFamily="34" charset="0"/>
                <a:ea typeface="Calibri" pitchFamily="34" charset="-122"/>
                <a:cs typeface="Calibri" pitchFamily="34" charset="-120"/>
              </a:rPr>
              <a:t>API returned mixed data: actual utilization rates (0–100%) AND week-over-week changes (which can be negative).</a:t>
            </a:r>
            <a:endParaRPr lang="en-US" sz="1000" dirty="0"/>
          </a:p>
        </p:txBody>
      </p:sp>
      <p:sp>
        <p:nvSpPr>
          <p:cNvPr id="13" name="Text 11"/>
          <p:cNvSpPr/>
          <p:nvPr/>
        </p:nvSpPr>
        <p:spPr>
          <a:xfrm>
            <a:off x="594360" y="4023360"/>
            <a:ext cx="3749040" cy="502920"/>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Fix: </a:t>
            </a:r>
            <a:r>
              <a:rPr lang="en-US" sz="1000" dirty="0">
                <a:solidFill>
                  <a:srgbClr val="7F8C8D"/>
                </a:solidFill>
                <a:latin typeface="Calibri" pitchFamily="34" charset="0"/>
                <a:ea typeface="Calibri" pitchFamily="34" charset="-122"/>
                <a:cs typeface="Calibri" pitchFamily="34" charset="-120"/>
              </a:rPr>
              <a:t>Filtered to keep only values between 0–105% (valid utilization). Separated change series for separate analysis.</a:t>
            </a:r>
            <a:endParaRPr lang="en-US" sz="1000" dirty="0"/>
          </a:p>
        </p:txBody>
      </p:sp>
      <p:sp>
        <p:nvSpPr>
          <p:cNvPr id="14" name="Shape 12"/>
          <p:cNvSpPr/>
          <p:nvPr/>
        </p:nvSpPr>
        <p:spPr>
          <a:xfrm>
            <a:off x="4663440" y="1371600"/>
            <a:ext cx="402336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5" name="Shape 13"/>
          <p:cNvSpPr/>
          <p:nvPr/>
        </p:nvSpPr>
        <p:spPr>
          <a:xfrm>
            <a:off x="4663440" y="1371600"/>
            <a:ext cx="4023360" cy="54864"/>
          </a:xfrm>
          <a:prstGeom prst="rect">
            <a:avLst/>
          </a:prstGeom>
          <a:solidFill>
            <a:srgbClr val="2E75B6"/>
          </a:solidFill>
          <a:ln/>
        </p:spPr>
        <p:txBody>
          <a:bodyPr/>
          <a:lstStyle/>
          <a:p>
            <a:endParaRPr lang="en-US"/>
          </a:p>
        </p:txBody>
      </p:sp>
      <p:sp>
        <p:nvSpPr>
          <p:cNvPr id="16" name="Text 14"/>
          <p:cNvSpPr/>
          <p:nvPr/>
        </p:nvSpPr>
        <p:spPr>
          <a:xfrm>
            <a:off x="4800600" y="1463040"/>
            <a:ext cx="3749040" cy="27432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EIA API: Type Mismatch Error</a:t>
            </a:r>
            <a:endParaRPr lang="en-US" sz="1100" dirty="0"/>
          </a:p>
        </p:txBody>
      </p:sp>
      <p:sp>
        <p:nvSpPr>
          <p:cNvPr id="17" name="Text 15"/>
          <p:cNvSpPr/>
          <p:nvPr/>
        </p:nvSpPr>
        <p:spPr>
          <a:xfrm>
            <a:off x="4800600" y="1783080"/>
            <a:ext cx="3749040" cy="457200"/>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Problem: </a:t>
            </a:r>
            <a:r>
              <a:rPr lang="en-US" sz="1000" dirty="0">
                <a:solidFill>
                  <a:srgbClr val="7F8C8D"/>
                </a:solidFill>
                <a:latin typeface="Calibri" pitchFamily="34" charset="0"/>
                <a:ea typeface="Calibri" pitchFamily="34" charset="-122"/>
                <a:cs typeface="Calibri" pitchFamily="34" charset="-120"/>
              </a:rPr>
              <a:t>API returned pagination metadata ("total" field) as a string instead of integer, breaking our loop comparison.</a:t>
            </a:r>
            <a:endParaRPr lang="en-US" sz="1000" dirty="0"/>
          </a:p>
        </p:txBody>
      </p:sp>
      <p:sp>
        <p:nvSpPr>
          <p:cNvPr id="18" name="Text 16"/>
          <p:cNvSpPr/>
          <p:nvPr/>
        </p:nvSpPr>
        <p:spPr>
          <a:xfrm>
            <a:off x="4800600" y="2286000"/>
            <a:ext cx="3749040" cy="502920"/>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Fix: </a:t>
            </a:r>
            <a:r>
              <a:rPr lang="en-US" sz="1000" dirty="0">
                <a:solidFill>
                  <a:srgbClr val="7F8C8D"/>
                </a:solidFill>
                <a:latin typeface="Calibri" pitchFamily="34" charset="0"/>
                <a:ea typeface="Calibri" pitchFamily="34" charset="-122"/>
                <a:cs typeface="Calibri" pitchFamily="34" charset="-120"/>
              </a:rPr>
              <a:t>Cast all API response metadata to int() before comparison. Documented as a known EIA API v2 quirk.</a:t>
            </a:r>
            <a:endParaRPr lang="en-US" sz="1000" dirty="0"/>
          </a:p>
        </p:txBody>
      </p:sp>
      <p:sp>
        <p:nvSpPr>
          <p:cNvPr id="19" name="Shape 17"/>
          <p:cNvSpPr/>
          <p:nvPr/>
        </p:nvSpPr>
        <p:spPr>
          <a:xfrm>
            <a:off x="4663440" y="3108960"/>
            <a:ext cx="4023360" cy="15544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20" name="Shape 18"/>
          <p:cNvSpPr/>
          <p:nvPr/>
        </p:nvSpPr>
        <p:spPr>
          <a:xfrm>
            <a:off x="4663440" y="3108960"/>
            <a:ext cx="4023360" cy="54864"/>
          </a:xfrm>
          <a:prstGeom prst="rect">
            <a:avLst/>
          </a:prstGeom>
          <a:solidFill>
            <a:srgbClr val="27AE60"/>
          </a:solidFill>
          <a:ln/>
        </p:spPr>
        <p:txBody>
          <a:bodyPr/>
          <a:lstStyle/>
          <a:p>
            <a:endParaRPr lang="en-US"/>
          </a:p>
        </p:txBody>
      </p:sp>
      <p:sp>
        <p:nvSpPr>
          <p:cNvPr id="21" name="Text 19"/>
          <p:cNvSpPr/>
          <p:nvPr/>
        </p:nvSpPr>
        <p:spPr>
          <a:xfrm>
            <a:off x="4800600" y="3200400"/>
            <a:ext cx="3749040" cy="27432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Mixed Frequencies Across Sources</a:t>
            </a:r>
            <a:endParaRPr lang="en-US" sz="1100" dirty="0"/>
          </a:p>
        </p:txBody>
      </p:sp>
      <p:sp>
        <p:nvSpPr>
          <p:cNvPr id="22" name="Text 20"/>
          <p:cNvSpPr/>
          <p:nvPr/>
        </p:nvSpPr>
        <p:spPr>
          <a:xfrm>
            <a:off x="4800600" y="3520440"/>
            <a:ext cx="3749040" cy="457200"/>
          </a:xfrm>
          <a:prstGeom prst="rect">
            <a:avLst/>
          </a:prstGeom>
          <a:noFill/>
          <a:ln/>
        </p:spPr>
        <p:txBody>
          <a:bodyPr wrap="square" lIns="0" tIns="0" rIns="0" bIns="0" rtlCol="0" anchor="ctr"/>
          <a:lstStyle/>
          <a:p>
            <a:pPr marL="0" indent="0">
              <a:buNone/>
            </a:pPr>
            <a:r>
              <a:rPr lang="en-US" sz="1000" b="1" dirty="0">
                <a:solidFill>
                  <a:srgbClr val="E74C3C"/>
                </a:solidFill>
                <a:latin typeface="Calibri" pitchFamily="34" charset="0"/>
                <a:ea typeface="Calibri" pitchFamily="34" charset="-122"/>
                <a:cs typeface="Calibri" pitchFamily="34" charset="-120"/>
              </a:rPr>
              <a:t>Problem: </a:t>
            </a:r>
            <a:r>
              <a:rPr lang="en-US" sz="1000" dirty="0">
                <a:solidFill>
                  <a:srgbClr val="7F8C8D"/>
                </a:solidFill>
                <a:latin typeface="Calibri" pitchFamily="34" charset="0"/>
                <a:ea typeface="Calibri" pitchFamily="34" charset="-122"/>
                <a:cs typeface="Calibri" pitchFamily="34" charset="-120"/>
              </a:rPr>
              <a:t>EIA data was weekly, FRED had daily, weekly, and monthly series — cannot merge directly without alignment.</a:t>
            </a:r>
            <a:endParaRPr lang="en-US" sz="1000" dirty="0"/>
          </a:p>
        </p:txBody>
      </p:sp>
      <p:sp>
        <p:nvSpPr>
          <p:cNvPr id="23" name="Text 21"/>
          <p:cNvSpPr/>
          <p:nvPr/>
        </p:nvSpPr>
        <p:spPr>
          <a:xfrm>
            <a:off x="4800600" y="4023360"/>
            <a:ext cx="3749040" cy="502920"/>
          </a:xfrm>
          <a:prstGeom prst="rect">
            <a:avLst/>
          </a:prstGeom>
          <a:noFill/>
          <a:ln/>
        </p:spPr>
        <p:txBody>
          <a:bodyPr wrap="square" lIns="0" tIns="0" rIns="0" bIns="0" rtlCol="0" anchor="ctr"/>
          <a:lstStyle/>
          <a:p>
            <a:pPr marL="0" indent="0">
              <a:buNone/>
            </a:pPr>
            <a:r>
              <a:rPr lang="en-US" sz="1000" b="1" dirty="0">
                <a:solidFill>
                  <a:srgbClr val="27AE60"/>
                </a:solidFill>
                <a:latin typeface="Calibri" pitchFamily="34" charset="0"/>
                <a:ea typeface="Calibri" pitchFamily="34" charset="-122"/>
                <a:cs typeface="Calibri" pitchFamily="34" charset="-120"/>
              </a:rPr>
              <a:t>Fix: </a:t>
            </a:r>
            <a:r>
              <a:rPr lang="en-US" sz="1000" dirty="0">
                <a:solidFill>
                  <a:srgbClr val="7F8C8D"/>
                </a:solidFill>
                <a:latin typeface="Calibri" pitchFamily="34" charset="0"/>
                <a:ea typeface="Calibri" pitchFamily="34" charset="-122"/>
                <a:cs typeface="Calibri" pitchFamily="34" charset="-120"/>
              </a:rPr>
              <a:t>Resampled all series to Monday-weekly frequency: daily → weekly mean, monthly → forward-fill into weeks.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Data Cleaning: Before vs. After</a:t>
            </a:r>
            <a:endParaRPr lang="en-US" sz="3200" dirty="0"/>
          </a:p>
        </p:txBody>
      </p:sp>
      <p:sp>
        <p:nvSpPr>
          <p:cNvPr id="3" name="Shape 1"/>
          <p:cNvSpPr/>
          <p:nvPr/>
        </p:nvSpPr>
        <p:spPr>
          <a:xfrm>
            <a:off x="457200" y="1097280"/>
            <a:ext cx="393192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457200" y="1097280"/>
            <a:ext cx="3931920" cy="457200"/>
          </a:xfrm>
          <a:prstGeom prst="rect">
            <a:avLst/>
          </a:prstGeom>
          <a:solidFill>
            <a:srgbClr val="E74C3C"/>
          </a:solidFill>
          <a:ln/>
        </p:spPr>
        <p:txBody>
          <a:bodyPr/>
          <a:lstStyle/>
          <a:p>
            <a:endParaRPr lang="en-US"/>
          </a:p>
        </p:txBody>
      </p:sp>
      <p:sp>
        <p:nvSpPr>
          <p:cNvPr id="5" name="Text 3"/>
          <p:cNvSpPr/>
          <p:nvPr/>
        </p:nvSpPr>
        <p:spPr>
          <a:xfrm>
            <a:off x="457200" y="1097280"/>
            <a:ext cx="39319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BEFORE  (Raw Data)</a:t>
            </a:r>
            <a:endParaRPr lang="en-US" sz="1400" dirty="0"/>
          </a:p>
        </p:txBody>
      </p:sp>
      <p:sp>
        <p:nvSpPr>
          <p:cNvPr id="6" name="Text 4"/>
          <p:cNvSpPr/>
          <p:nvPr/>
        </p:nvSpPr>
        <p:spPr>
          <a:xfrm>
            <a:off x="594360" y="1691640"/>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7" name="Text 5"/>
          <p:cNvSpPr/>
          <p:nvPr/>
        </p:nvSpPr>
        <p:spPr>
          <a:xfrm>
            <a:off x="914400" y="1691640"/>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12 separate files</a:t>
            </a:r>
            <a:endParaRPr lang="en-US" sz="1100" dirty="0"/>
          </a:p>
        </p:txBody>
      </p:sp>
      <p:sp>
        <p:nvSpPr>
          <p:cNvPr id="8" name="Text 6"/>
          <p:cNvSpPr/>
          <p:nvPr/>
        </p:nvSpPr>
        <p:spPr>
          <a:xfrm>
            <a:off x="914400" y="1874520"/>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5 EIA CSVs + 7 FRED CSVs, different formats</a:t>
            </a:r>
            <a:endParaRPr lang="en-US" sz="900" dirty="0"/>
          </a:p>
        </p:txBody>
      </p:sp>
      <p:sp>
        <p:nvSpPr>
          <p:cNvPr id="9" name="Text 7"/>
          <p:cNvSpPr/>
          <p:nvPr/>
        </p:nvSpPr>
        <p:spPr>
          <a:xfrm>
            <a:off x="594360" y="2176272"/>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10" name="Text 8"/>
          <p:cNvSpPr/>
          <p:nvPr/>
        </p:nvSpPr>
        <p:spPr>
          <a:xfrm>
            <a:off x="914400" y="2176272"/>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Mixed frequencies</a:t>
            </a:r>
            <a:endParaRPr lang="en-US" sz="1100" dirty="0"/>
          </a:p>
        </p:txBody>
      </p:sp>
      <p:sp>
        <p:nvSpPr>
          <p:cNvPr id="11" name="Text 9"/>
          <p:cNvSpPr/>
          <p:nvPr/>
        </p:nvSpPr>
        <p:spPr>
          <a:xfrm>
            <a:off x="914400" y="2359152"/>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Daily, weekly, and monthly data mixed together</a:t>
            </a:r>
            <a:endParaRPr lang="en-US" sz="900" dirty="0"/>
          </a:p>
        </p:txBody>
      </p:sp>
      <p:sp>
        <p:nvSpPr>
          <p:cNvPr id="12" name="Text 10"/>
          <p:cNvSpPr/>
          <p:nvPr/>
        </p:nvSpPr>
        <p:spPr>
          <a:xfrm>
            <a:off x="594360" y="2660904"/>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13" name="Text 11"/>
          <p:cNvSpPr/>
          <p:nvPr/>
        </p:nvSpPr>
        <p:spPr>
          <a:xfrm>
            <a:off x="914400" y="2660904"/>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~7,400 null values</a:t>
            </a:r>
            <a:endParaRPr lang="en-US" sz="1100" dirty="0"/>
          </a:p>
        </p:txBody>
      </p:sp>
      <p:sp>
        <p:nvSpPr>
          <p:cNvPr id="14" name="Text 12"/>
          <p:cNvSpPr/>
          <p:nvPr/>
        </p:nvSpPr>
        <p:spPr>
          <a:xfrm>
            <a:off x="914400" y="2843784"/>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10.3% of refinery data missing</a:t>
            </a:r>
            <a:endParaRPr lang="en-US" sz="900" dirty="0"/>
          </a:p>
        </p:txBody>
      </p:sp>
      <p:sp>
        <p:nvSpPr>
          <p:cNvPr id="15" name="Text 13"/>
          <p:cNvSpPr/>
          <p:nvPr/>
        </p:nvSpPr>
        <p:spPr>
          <a:xfrm>
            <a:off x="594360" y="3145536"/>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16" name="Text 14"/>
          <p:cNvSpPr/>
          <p:nvPr/>
        </p:nvSpPr>
        <p:spPr>
          <a:xfrm>
            <a:off x="914400" y="3145536"/>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~6,500 invalid rows</a:t>
            </a:r>
            <a:endParaRPr lang="en-US" sz="1100" dirty="0"/>
          </a:p>
        </p:txBody>
      </p:sp>
      <p:sp>
        <p:nvSpPr>
          <p:cNvPr id="17" name="Text 15"/>
          <p:cNvSpPr/>
          <p:nvPr/>
        </p:nvSpPr>
        <p:spPr>
          <a:xfrm>
            <a:off x="914400" y="3328416"/>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Negative values in utilization data</a:t>
            </a:r>
            <a:endParaRPr lang="en-US" sz="900" dirty="0"/>
          </a:p>
        </p:txBody>
      </p:sp>
      <p:sp>
        <p:nvSpPr>
          <p:cNvPr id="18" name="Text 16"/>
          <p:cNvSpPr/>
          <p:nvPr/>
        </p:nvSpPr>
        <p:spPr>
          <a:xfrm>
            <a:off x="594360" y="3630168"/>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19" name="Text 17"/>
          <p:cNvSpPr/>
          <p:nvPr/>
        </p:nvSpPr>
        <p:spPr>
          <a:xfrm>
            <a:off x="914400" y="3630168"/>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String type errors</a:t>
            </a:r>
            <a:endParaRPr lang="en-US" sz="1100" dirty="0"/>
          </a:p>
        </p:txBody>
      </p:sp>
      <p:sp>
        <p:nvSpPr>
          <p:cNvPr id="20" name="Text 18"/>
          <p:cNvSpPr/>
          <p:nvPr/>
        </p:nvSpPr>
        <p:spPr>
          <a:xfrm>
            <a:off x="914400" y="3813048"/>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API metadata returned as text, not numbers</a:t>
            </a:r>
            <a:endParaRPr lang="en-US" sz="900" dirty="0"/>
          </a:p>
        </p:txBody>
      </p:sp>
      <p:sp>
        <p:nvSpPr>
          <p:cNvPr id="21" name="Text 19"/>
          <p:cNvSpPr/>
          <p:nvPr/>
        </p:nvSpPr>
        <p:spPr>
          <a:xfrm>
            <a:off x="594360" y="4114800"/>
            <a:ext cx="274320" cy="274320"/>
          </a:xfrm>
          <a:prstGeom prst="rect">
            <a:avLst/>
          </a:prstGeom>
          <a:noFill/>
          <a:ln/>
        </p:spPr>
        <p:txBody>
          <a:bodyPr wrap="square" lIns="0" tIns="0" rIns="0" bIns="0" rtlCol="0" anchor="ctr"/>
          <a:lstStyle/>
          <a:p>
            <a:pPr marL="0" indent="0">
              <a:buNone/>
            </a:pPr>
            <a:r>
              <a:rPr lang="en-US" sz="1400" b="1" dirty="0">
                <a:solidFill>
                  <a:srgbClr val="E74C3C"/>
                </a:solidFill>
              </a:rPr>
              <a:t>✗</a:t>
            </a:r>
            <a:endParaRPr lang="en-US" sz="1400" dirty="0"/>
          </a:p>
        </p:txBody>
      </p:sp>
      <p:sp>
        <p:nvSpPr>
          <p:cNvPr id="22" name="Text 20"/>
          <p:cNvSpPr/>
          <p:nvPr/>
        </p:nvSpPr>
        <p:spPr>
          <a:xfrm>
            <a:off x="914400" y="4114800"/>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No derived features</a:t>
            </a:r>
            <a:endParaRPr lang="en-US" sz="1100" dirty="0"/>
          </a:p>
        </p:txBody>
      </p:sp>
      <p:sp>
        <p:nvSpPr>
          <p:cNvPr id="23" name="Text 21"/>
          <p:cNvSpPr/>
          <p:nvPr/>
        </p:nvSpPr>
        <p:spPr>
          <a:xfrm>
            <a:off x="914400" y="4297680"/>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Raw prices only, no margins or changes</a:t>
            </a:r>
            <a:endParaRPr lang="en-US" sz="900" dirty="0"/>
          </a:p>
        </p:txBody>
      </p:sp>
      <p:sp>
        <p:nvSpPr>
          <p:cNvPr id="24" name="Text 22"/>
          <p:cNvSpPr/>
          <p:nvPr/>
        </p:nvSpPr>
        <p:spPr>
          <a:xfrm>
            <a:off x="4206240" y="2560320"/>
            <a:ext cx="731520" cy="548640"/>
          </a:xfrm>
          <a:prstGeom prst="rect">
            <a:avLst/>
          </a:prstGeom>
          <a:noFill/>
          <a:ln/>
        </p:spPr>
        <p:txBody>
          <a:bodyPr wrap="square" rtlCol="0" anchor="ctr"/>
          <a:lstStyle/>
          <a:p>
            <a:pPr marL="0" indent="0" algn="ctr">
              <a:buNone/>
            </a:pPr>
            <a:endParaRPr lang="en-US" sz="3600" dirty="0"/>
          </a:p>
        </p:txBody>
      </p:sp>
      <p:sp>
        <p:nvSpPr>
          <p:cNvPr id="25" name="Shape 23"/>
          <p:cNvSpPr/>
          <p:nvPr/>
        </p:nvSpPr>
        <p:spPr>
          <a:xfrm>
            <a:off x="4754880" y="1097280"/>
            <a:ext cx="3931920" cy="3657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26" name="Shape 24"/>
          <p:cNvSpPr/>
          <p:nvPr/>
        </p:nvSpPr>
        <p:spPr>
          <a:xfrm>
            <a:off x="4754880" y="1097280"/>
            <a:ext cx="3931920" cy="457200"/>
          </a:xfrm>
          <a:prstGeom prst="rect">
            <a:avLst/>
          </a:prstGeom>
          <a:solidFill>
            <a:srgbClr val="27AE60"/>
          </a:solidFill>
          <a:ln/>
        </p:spPr>
        <p:txBody>
          <a:bodyPr/>
          <a:lstStyle/>
          <a:p>
            <a:endParaRPr lang="en-US"/>
          </a:p>
        </p:txBody>
      </p:sp>
      <p:sp>
        <p:nvSpPr>
          <p:cNvPr id="27" name="Text 25"/>
          <p:cNvSpPr/>
          <p:nvPr/>
        </p:nvSpPr>
        <p:spPr>
          <a:xfrm>
            <a:off x="4754880" y="1097280"/>
            <a:ext cx="3931920" cy="457200"/>
          </a:xfrm>
          <a:prstGeom prst="rect">
            <a:avLst/>
          </a:prstGeom>
          <a:noFill/>
          <a:ln/>
        </p:spPr>
        <p:txBody>
          <a:bodyPr wrap="square"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AFTER  (Clean Dataset)</a:t>
            </a:r>
            <a:endParaRPr lang="en-US" sz="1400" dirty="0"/>
          </a:p>
        </p:txBody>
      </p:sp>
      <p:sp>
        <p:nvSpPr>
          <p:cNvPr id="28" name="Text 26"/>
          <p:cNvSpPr/>
          <p:nvPr/>
        </p:nvSpPr>
        <p:spPr>
          <a:xfrm>
            <a:off x="4892040" y="1691640"/>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29" name="Text 27"/>
          <p:cNvSpPr/>
          <p:nvPr/>
        </p:nvSpPr>
        <p:spPr>
          <a:xfrm>
            <a:off x="5212080" y="1691640"/>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1 unified master dataset</a:t>
            </a:r>
            <a:endParaRPr lang="en-US" sz="1100" dirty="0"/>
          </a:p>
        </p:txBody>
      </p:sp>
      <p:sp>
        <p:nvSpPr>
          <p:cNvPr id="30" name="Text 28"/>
          <p:cNvSpPr/>
          <p:nvPr/>
        </p:nvSpPr>
        <p:spPr>
          <a:xfrm>
            <a:off x="5212080" y="1874520"/>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Single CSV with all variables aligned</a:t>
            </a:r>
            <a:endParaRPr lang="en-US" sz="900" dirty="0"/>
          </a:p>
        </p:txBody>
      </p:sp>
      <p:sp>
        <p:nvSpPr>
          <p:cNvPr id="31" name="Text 29"/>
          <p:cNvSpPr/>
          <p:nvPr/>
        </p:nvSpPr>
        <p:spPr>
          <a:xfrm>
            <a:off x="4892040" y="2176272"/>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32" name="Text 30"/>
          <p:cNvSpPr/>
          <p:nvPr/>
        </p:nvSpPr>
        <p:spPr>
          <a:xfrm>
            <a:off x="5212080" y="2176272"/>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Weekly (Monday) frequency</a:t>
            </a:r>
            <a:endParaRPr lang="en-US" sz="1100" dirty="0"/>
          </a:p>
        </p:txBody>
      </p:sp>
      <p:sp>
        <p:nvSpPr>
          <p:cNvPr id="33" name="Text 31"/>
          <p:cNvSpPr/>
          <p:nvPr/>
        </p:nvSpPr>
        <p:spPr>
          <a:xfrm>
            <a:off x="5212080" y="2359152"/>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All series resampled and aligned consistently</a:t>
            </a:r>
            <a:endParaRPr lang="en-US" sz="900" dirty="0"/>
          </a:p>
        </p:txBody>
      </p:sp>
      <p:sp>
        <p:nvSpPr>
          <p:cNvPr id="34" name="Text 32"/>
          <p:cNvSpPr/>
          <p:nvPr/>
        </p:nvSpPr>
        <p:spPr>
          <a:xfrm>
            <a:off x="4892040" y="2660904"/>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35" name="Text 33"/>
          <p:cNvSpPr/>
          <p:nvPr/>
        </p:nvSpPr>
        <p:spPr>
          <a:xfrm>
            <a:off x="5212080" y="2660904"/>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&lt; 2% missing data</a:t>
            </a:r>
            <a:endParaRPr lang="en-US" sz="1100" dirty="0"/>
          </a:p>
        </p:txBody>
      </p:sp>
      <p:sp>
        <p:nvSpPr>
          <p:cNvPr id="36" name="Text 34"/>
          <p:cNvSpPr/>
          <p:nvPr/>
        </p:nvSpPr>
        <p:spPr>
          <a:xfrm>
            <a:off x="5212080" y="2843784"/>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Forward-filled small gaps, dropped long ones</a:t>
            </a:r>
            <a:endParaRPr lang="en-US" sz="900" dirty="0"/>
          </a:p>
        </p:txBody>
      </p:sp>
      <p:sp>
        <p:nvSpPr>
          <p:cNvPr id="37" name="Text 35"/>
          <p:cNvSpPr/>
          <p:nvPr/>
        </p:nvSpPr>
        <p:spPr>
          <a:xfrm>
            <a:off x="4892040" y="3145536"/>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38" name="Text 36"/>
          <p:cNvSpPr/>
          <p:nvPr/>
        </p:nvSpPr>
        <p:spPr>
          <a:xfrm>
            <a:off x="5212080" y="3145536"/>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All values validated</a:t>
            </a:r>
            <a:endParaRPr lang="en-US" sz="1100" dirty="0"/>
          </a:p>
        </p:txBody>
      </p:sp>
      <p:sp>
        <p:nvSpPr>
          <p:cNvPr id="39" name="Text 37"/>
          <p:cNvSpPr/>
          <p:nvPr/>
        </p:nvSpPr>
        <p:spPr>
          <a:xfrm>
            <a:off x="5212080" y="3328416"/>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Filtered to valid ranges, types corrected</a:t>
            </a:r>
            <a:endParaRPr lang="en-US" sz="900" dirty="0"/>
          </a:p>
        </p:txBody>
      </p:sp>
      <p:sp>
        <p:nvSpPr>
          <p:cNvPr id="40" name="Text 38"/>
          <p:cNvSpPr/>
          <p:nvPr/>
        </p:nvSpPr>
        <p:spPr>
          <a:xfrm>
            <a:off x="4892040" y="3630168"/>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41" name="Text 39"/>
          <p:cNvSpPr/>
          <p:nvPr/>
        </p:nvSpPr>
        <p:spPr>
          <a:xfrm>
            <a:off x="5212080" y="3630168"/>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Robust pipeline code</a:t>
            </a:r>
            <a:endParaRPr lang="en-US" sz="1100" dirty="0"/>
          </a:p>
        </p:txBody>
      </p:sp>
      <p:sp>
        <p:nvSpPr>
          <p:cNvPr id="42" name="Text 40"/>
          <p:cNvSpPr/>
          <p:nvPr/>
        </p:nvSpPr>
        <p:spPr>
          <a:xfrm>
            <a:off x="5212080" y="3813048"/>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API bugs fixed, error handling added</a:t>
            </a:r>
            <a:endParaRPr lang="en-US" sz="900" dirty="0"/>
          </a:p>
        </p:txBody>
      </p:sp>
      <p:sp>
        <p:nvSpPr>
          <p:cNvPr id="43" name="Text 41"/>
          <p:cNvSpPr/>
          <p:nvPr/>
        </p:nvSpPr>
        <p:spPr>
          <a:xfrm>
            <a:off x="4892040" y="4114800"/>
            <a:ext cx="274320" cy="274320"/>
          </a:xfrm>
          <a:prstGeom prst="rect">
            <a:avLst/>
          </a:prstGeom>
          <a:noFill/>
          <a:ln/>
        </p:spPr>
        <p:txBody>
          <a:bodyPr wrap="square" lIns="0" tIns="0" rIns="0" bIns="0" rtlCol="0" anchor="ctr"/>
          <a:lstStyle/>
          <a:p>
            <a:pPr marL="0" indent="0">
              <a:buNone/>
            </a:pPr>
            <a:r>
              <a:rPr lang="en-US" sz="1400" b="1" dirty="0">
                <a:solidFill>
                  <a:srgbClr val="27AE60"/>
                </a:solidFill>
              </a:rPr>
              <a:t>✓</a:t>
            </a:r>
            <a:endParaRPr lang="en-US" sz="1400" dirty="0"/>
          </a:p>
        </p:txBody>
      </p:sp>
      <p:sp>
        <p:nvSpPr>
          <p:cNvPr id="44" name="Text 42"/>
          <p:cNvSpPr/>
          <p:nvPr/>
        </p:nvSpPr>
        <p:spPr>
          <a:xfrm>
            <a:off x="5212080" y="4114800"/>
            <a:ext cx="3200400" cy="182880"/>
          </a:xfrm>
          <a:prstGeom prst="rect">
            <a:avLst/>
          </a:prstGeom>
          <a:noFill/>
          <a:ln/>
        </p:spPr>
        <p:txBody>
          <a:bodyPr wrap="square" lIns="0" tIns="0" rIns="0" bIns="0" rtlCol="0" anchor="ctr"/>
          <a:lstStyle/>
          <a:p>
            <a:pPr marL="0" indent="0">
              <a:buNone/>
            </a:pPr>
            <a:r>
              <a:rPr lang="en-US" sz="1100" b="1" dirty="0">
                <a:solidFill>
                  <a:srgbClr val="2C3E50"/>
                </a:solidFill>
                <a:latin typeface="Calibri" pitchFamily="34" charset="0"/>
                <a:ea typeface="Calibri" pitchFamily="34" charset="-122"/>
                <a:cs typeface="Calibri" pitchFamily="34" charset="-120"/>
              </a:rPr>
              <a:t>15+ engineered features</a:t>
            </a:r>
            <a:endParaRPr lang="en-US" sz="1100" dirty="0"/>
          </a:p>
        </p:txBody>
      </p:sp>
      <p:sp>
        <p:nvSpPr>
          <p:cNvPr id="45" name="Text 43"/>
          <p:cNvSpPr/>
          <p:nvPr/>
        </p:nvSpPr>
        <p:spPr>
          <a:xfrm>
            <a:off x="5212080" y="4297680"/>
            <a:ext cx="3200400" cy="182880"/>
          </a:xfrm>
          <a:prstGeom prst="rect">
            <a:avLst/>
          </a:prstGeom>
          <a:noFill/>
          <a:ln/>
        </p:spPr>
        <p:txBody>
          <a:bodyPr wrap="square" lIns="0" tIns="0" rIns="0" bIns="0" rtlCol="0" anchor="ctr"/>
          <a:lstStyle/>
          <a:p>
            <a:pPr marL="0" indent="0">
              <a:buNone/>
            </a:pPr>
            <a:r>
              <a:rPr lang="en-US" sz="900" dirty="0">
                <a:solidFill>
                  <a:srgbClr val="95A5A6"/>
                </a:solidFill>
                <a:latin typeface="Calibri" pitchFamily="34" charset="0"/>
                <a:ea typeface="Calibri" pitchFamily="34" charset="-122"/>
                <a:cs typeface="Calibri" pitchFamily="34" charset="-120"/>
              </a:rPr>
              <a:t>Crack spread, changes, MAs, seasonal flags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Feature Engineering</a:t>
            </a:r>
            <a:endParaRPr lang="en-US" sz="3200" dirty="0"/>
          </a:p>
        </p:txBody>
      </p:sp>
      <p:sp>
        <p:nvSpPr>
          <p:cNvPr id="3" name="Text 1"/>
          <p:cNvSpPr/>
          <p:nvPr/>
        </p:nvSpPr>
        <p:spPr>
          <a:xfrm>
            <a:off x="640080" y="914400"/>
            <a:ext cx="7863840" cy="320040"/>
          </a:xfrm>
          <a:prstGeom prst="rect">
            <a:avLst/>
          </a:prstGeom>
          <a:noFill/>
          <a:ln/>
        </p:spPr>
        <p:txBody>
          <a:bodyPr wrap="square" rtlCol="0" anchor="ctr"/>
          <a:lstStyle/>
          <a:p>
            <a:pPr marL="0" indent="0">
              <a:buNone/>
            </a:pPr>
            <a:r>
              <a:rPr lang="en-US" sz="1300" dirty="0">
                <a:solidFill>
                  <a:srgbClr val="7F8C8D"/>
                </a:solidFill>
                <a:latin typeface="Calibri" pitchFamily="34" charset="0"/>
                <a:ea typeface="Calibri" pitchFamily="34" charset="-122"/>
                <a:cs typeface="Calibri" pitchFamily="34" charset="-120"/>
              </a:rPr>
              <a:t>Derived variables created from the raw data to support analysis and modeling:</a:t>
            </a:r>
            <a:endParaRPr lang="en-US" sz="1300" dirty="0"/>
          </a:p>
        </p:txBody>
      </p:sp>
      <p:sp>
        <p:nvSpPr>
          <p:cNvPr id="4" name="Shape 2"/>
          <p:cNvSpPr/>
          <p:nvPr/>
        </p:nvSpPr>
        <p:spPr>
          <a:xfrm>
            <a:off x="640080" y="137160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5" name="Shape 3"/>
          <p:cNvSpPr/>
          <p:nvPr/>
        </p:nvSpPr>
        <p:spPr>
          <a:xfrm>
            <a:off x="640080" y="1371600"/>
            <a:ext cx="73152" cy="1371600"/>
          </a:xfrm>
          <a:prstGeom prst="rect">
            <a:avLst/>
          </a:prstGeom>
          <a:solidFill>
            <a:srgbClr val="2E75B6"/>
          </a:solidFill>
          <a:ln/>
        </p:spPr>
        <p:txBody>
          <a:bodyPr/>
          <a:lstStyle/>
          <a:p>
            <a:endParaRPr lang="en-US"/>
          </a:p>
        </p:txBody>
      </p:sp>
      <p:sp>
        <p:nvSpPr>
          <p:cNvPr id="6" name="Text 4"/>
          <p:cNvSpPr/>
          <p:nvPr/>
        </p:nvSpPr>
        <p:spPr>
          <a:xfrm>
            <a:off x="914400" y="1508760"/>
            <a:ext cx="329184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Crack Spread</a:t>
            </a:r>
            <a:endParaRPr lang="en-US" sz="1500" dirty="0"/>
          </a:p>
        </p:txBody>
      </p:sp>
      <p:sp>
        <p:nvSpPr>
          <p:cNvPr id="7" name="Text 5"/>
          <p:cNvSpPr/>
          <p:nvPr/>
        </p:nvSpPr>
        <p:spPr>
          <a:xfrm>
            <a:off x="914400" y="1874520"/>
            <a:ext cx="3291840" cy="73152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Spot gasoline price minus crude oil</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cost per gallon — measures refinery</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profit margin</a:t>
            </a:r>
            <a:endParaRPr lang="en-US" sz="1100" dirty="0"/>
          </a:p>
        </p:txBody>
      </p:sp>
      <p:sp>
        <p:nvSpPr>
          <p:cNvPr id="8" name="Shape 6"/>
          <p:cNvSpPr/>
          <p:nvPr/>
        </p:nvSpPr>
        <p:spPr>
          <a:xfrm>
            <a:off x="640080" y="301752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9" name="Shape 7"/>
          <p:cNvSpPr/>
          <p:nvPr/>
        </p:nvSpPr>
        <p:spPr>
          <a:xfrm>
            <a:off x="640080" y="3017520"/>
            <a:ext cx="73152" cy="1371600"/>
          </a:xfrm>
          <a:prstGeom prst="rect">
            <a:avLst/>
          </a:prstGeom>
          <a:solidFill>
            <a:srgbClr val="27AE60"/>
          </a:solidFill>
          <a:ln/>
        </p:spPr>
        <p:txBody>
          <a:bodyPr/>
          <a:lstStyle/>
          <a:p>
            <a:endParaRPr lang="en-US"/>
          </a:p>
        </p:txBody>
      </p:sp>
      <p:sp>
        <p:nvSpPr>
          <p:cNvPr id="10" name="Text 8"/>
          <p:cNvSpPr/>
          <p:nvPr/>
        </p:nvSpPr>
        <p:spPr>
          <a:xfrm>
            <a:off x="914400" y="3154680"/>
            <a:ext cx="329184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Price Changes</a:t>
            </a:r>
            <a:endParaRPr lang="en-US" sz="1500" dirty="0"/>
          </a:p>
        </p:txBody>
      </p:sp>
      <p:sp>
        <p:nvSpPr>
          <p:cNvPr id="11" name="Text 9"/>
          <p:cNvSpPr/>
          <p:nvPr/>
        </p:nvSpPr>
        <p:spPr>
          <a:xfrm>
            <a:off x="914400" y="3520440"/>
            <a:ext cx="3291840" cy="73152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Week-over-week dollar and percent</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changes for retail gas, crude oil,</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and wholesale gasoline</a:t>
            </a:r>
            <a:endParaRPr lang="en-US" sz="1100" dirty="0"/>
          </a:p>
        </p:txBody>
      </p:sp>
      <p:sp>
        <p:nvSpPr>
          <p:cNvPr id="12" name="Shape 10"/>
          <p:cNvSpPr/>
          <p:nvPr/>
        </p:nvSpPr>
        <p:spPr>
          <a:xfrm>
            <a:off x="4754880" y="137160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3" name="Shape 11"/>
          <p:cNvSpPr/>
          <p:nvPr/>
        </p:nvSpPr>
        <p:spPr>
          <a:xfrm>
            <a:off x="4754880" y="1371600"/>
            <a:ext cx="73152" cy="1371600"/>
          </a:xfrm>
          <a:prstGeom prst="rect">
            <a:avLst/>
          </a:prstGeom>
          <a:solidFill>
            <a:srgbClr val="E67E22"/>
          </a:solidFill>
          <a:ln/>
        </p:spPr>
        <p:txBody>
          <a:bodyPr/>
          <a:lstStyle/>
          <a:p>
            <a:endParaRPr lang="en-US"/>
          </a:p>
        </p:txBody>
      </p:sp>
      <p:sp>
        <p:nvSpPr>
          <p:cNvPr id="14" name="Text 12"/>
          <p:cNvSpPr/>
          <p:nvPr/>
        </p:nvSpPr>
        <p:spPr>
          <a:xfrm>
            <a:off x="5029200" y="1508760"/>
            <a:ext cx="329184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Rolling Averages</a:t>
            </a:r>
            <a:endParaRPr lang="en-US" sz="1500" dirty="0"/>
          </a:p>
        </p:txBody>
      </p:sp>
      <p:sp>
        <p:nvSpPr>
          <p:cNvPr id="15" name="Text 13"/>
          <p:cNvSpPr/>
          <p:nvPr/>
        </p:nvSpPr>
        <p:spPr>
          <a:xfrm>
            <a:off x="5029200" y="1874520"/>
            <a:ext cx="3291840" cy="73152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4-week and 12-week moving averages</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of retail price — smooths noise and</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reveals trends</a:t>
            </a:r>
            <a:endParaRPr lang="en-US" sz="1100" dirty="0"/>
          </a:p>
        </p:txBody>
      </p:sp>
      <p:sp>
        <p:nvSpPr>
          <p:cNvPr id="16" name="Shape 14"/>
          <p:cNvSpPr/>
          <p:nvPr/>
        </p:nvSpPr>
        <p:spPr>
          <a:xfrm>
            <a:off x="4754880" y="3017520"/>
            <a:ext cx="374904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7" name="Shape 15"/>
          <p:cNvSpPr/>
          <p:nvPr/>
        </p:nvSpPr>
        <p:spPr>
          <a:xfrm>
            <a:off x="4754880" y="3017520"/>
            <a:ext cx="73152" cy="1371600"/>
          </a:xfrm>
          <a:prstGeom prst="rect">
            <a:avLst/>
          </a:prstGeom>
          <a:solidFill>
            <a:srgbClr val="E74C3C"/>
          </a:solidFill>
          <a:ln/>
        </p:spPr>
        <p:txBody>
          <a:bodyPr/>
          <a:lstStyle/>
          <a:p>
            <a:endParaRPr lang="en-US"/>
          </a:p>
        </p:txBody>
      </p:sp>
      <p:sp>
        <p:nvSpPr>
          <p:cNvPr id="18" name="Text 16"/>
          <p:cNvSpPr/>
          <p:nvPr/>
        </p:nvSpPr>
        <p:spPr>
          <a:xfrm>
            <a:off x="5029200" y="3154680"/>
            <a:ext cx="329184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Seasonal Flags</a:t>
            </a:r>
            <a:endParaRPr lang="en-US" sz="1500" dirty="0"/>
          </a:p>
        </p:txBody>
      </p:sp>
      <p:sp>
        <p:nvSpPr>
          <p:cNvPr id="19" name="Text 17"/>
          <p:cNvSpPr/>
          <p:nvPr/>
        </p:nvSpPr>
        <p:spPr>
          <a:xfrm>
            <a:off x="5029200" y="3520440"/>
            <a:ext cx="3291840" cy="73152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Month, quarter, and summer blend</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season indicator (March–September)</a:t>
            </a:r>
            <a:endParaRPr lang="en-US" sz="1100" dirty="0"/>
          </a:p>
          <a:p>
            <a:pPr marL="0" indent="0">
              <a:buNone/>
            </a:pPr>
            <a:r>
              <a:rPr lang="en-US" sz="1100" dirty="0">
                <a:solidFill>
                  <a:srgbClr val="7F8C8D"/>
                </a:solidFill>
                <a:latin typeface="Calibri" pitchFamily="34" charset="0"/>
                <a:ea typeface="Calibri" pitchFamily="34" charset="-122"/>
                <a:cs typeface="Calibri" pitchFamily="34" charset="-120"/>
              </a:rPr>
              <a:t>for seasonal patterns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Initial Findings: Crude Oil vs Retail Gas</a:t>
            </a:r>
            <a:endParaRPr lang="en-US" sz="3200" dirty="0"/>
          </a:p>
        </p:txBody>
      </p:sp>
      <p:sp>
        <p:nvSpPr>
          <p:cNvPr id="5" name="Text 3"/>
          <p:cNvSpPr/>
          <p:nvPr/>
        </p:nvSpPr>
        <p:spPr>
          <a:xfrm>
            <a:off x="640080" y="4434840"/>
            <a:ext cx="7863840" cy="548640"/>
          </a:xfrm>
          <a:prstGeom prst="rect">
            <a:avLst/>
          </a:prstGeom>
          <a:noFill/>
          <a:ln/>
        </p:spPr>
        <p:txBody>
          <a:bodyPr wrap="square" rtlCol="0" anchor="ctr"/>
          <a:lstStyle/>
          <a:p>
            <a:pPr marL="0" indent="0">
              <a:buNone/>
            </a:pPr>
            <a:r>
              <a:rPr lang="en-US" sz="1200" i="1" dirty="0">
                <a:solidFill>
                  <a:srgbClr val="7F8C8D"/>
                </a:solidFill>
                <a:latin typeface="Calibri" pitchFamily="34" charset="0"/>
                <a:ea typeface="Calibri" pitchFamily="34" charset="-122"/>
                <a:cs typeface="Calibri" pitchFamily="34" charset="-120"/>
              </a:rPr>
              <a:t>Crude oil and retail gasoline prices track closely, but with visible lags during major events</a:t>
            </a:r>
            <a:endParaRPr lang="en-US" sz="1200" dirty="0"/>
          </a:p>
          <a:p>
            <a:pPr marL="0" indent="0">
              <a:buNone/>
            </a:pPr>
            <a:r>
              <a:rPr lang="en-US" sz="1200" i="1" dirty="0">
                <a:solidFill>
                  <a:srgbClr val="7F8C8D"/>
                </a:solidFill>
                <a:latin typeface="Calibri" pitchFamily="34" charset="0"/>
                <a:ea typeface="Calibri" pitchFamily="34" charset="-122"/>
                <a:cs typeface="Calibri" pitchFamily="34" charset="-120"/>
              </a:rPr>
              <a:t>(COVID crash, Ukraine invasion). Quantifying this lag is a core research question.</a:t>
            </a:r>
            <a:endParaRPr lang="en-US" sz="1200" dirty="0"/>
          </a:p>
        </p:txBody>
      </p:sp>
      <p:pic>
        <p:nvPicPr>
          <p:cNvPr id="6" name="Picture 5" descr="A graph showing the price of oil&#10;&#10;Description automatically generated">
            <a:extLst>
              <a:ext uri="{FF2B5EF4-FFF2-40B4-BE49-F238E27FC236}">
                <a16:creationId xmlns:a16="http://schemas.microsoft.com/office/drawing/2014/main" id="{6DA0850A-F926-B378-A518-DA771854F90C}"/>
              </a:ext>
            </a:extLst>
          </p:cNvPr>
          <p:cNvPicPr>
            <a:picLocks noChangeAspect="1"/>
          </p:cNvPicPr>
          <p:nvPr/>
        </p:nvPicPr>
        <p:blipFill>
          <a:blip r:embed="rId3"/>
          <a:stretch>
            <a:fillRect/>
          </a:stretch>
        </p:blipFill>
        <p:spPr>
          <a:xfrm>
            <a:off x="640080" y="1078508"/>
            <a:ext cx="7855324" cy="319222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Initial Findings: Regional Price Disparities</a:t>
            </a:r>
            <a:endParaRPr lang="en-US" sz="3200" dirty="0"/>
          </a:p>
        </p:txBody>
      </p:sp>
      <p:sp>
        <p:nvSpPr>
          <p:cNvPr id="5" name="Text 3"/>
          <p:cNvSpPr/>
          <p:nvPr/>
        </p:nvSpPr>
        <p:spPr>
          <a:xfrm>
            <a:off x="640080" y="4434840"/>
            <a:ext cx="7863840" cy="548640"/>
          </a:xfrm>
          <a:prstGeom prst="rect">
            <a:avLst/>
          </a:prstGeom>
          <a:noFill/>
          <a:ln/>
        </p:spPr>
        <p:txBody>
          <a:bodyPr wrap="square" rtlCol="0" anchor="ctr"/>
          <a:lstStyle/>
          <a:p>
            <a:pPr marL="0" indent="0">
              <a:buNone/>
            </a:pPr>
            <a:r>
              <a:rPr lang="en-US" sz="1200" i="1" dirty="0">
                <a:solidFill>
                  <a:srgbClr val="7F8C8D"/>
                </a:solidFill>
                <a:latin typeface="Calibri" pitchFamily="34" charset="0"/>
                <a:ea typeface="Calibri" pitchFamily="34" charset="-122"/>
                <a:cs typeface="Calibri" pitchFamily="34" charset="-120"/>
              </a:rPr>
              <a:t>West Coast (PADD 5) consistently pays the highest prices due to stricter fuel formulations and</a:t>
            </a:r>
            <a:endParaRPr lang="en-US" sz="1200" dirty="0"/>
          </a:p>
          <a:p>
            <a:pPr marL="0" indent="0">
              <a:buNone/>
            </a:pPr>
            <a:r>
              <a:rPr lang="en-US" sz="1200" i="1" dirty="0">
                <a:solidFill>
                  <a:srgbClr val="7F8C8D"/>
                </a:solidFill>
                <a:latin typeface="Calibri" pitchFamily="34" charset="0"/>
                <a:ea typeface="Calibri" pitchFamily="34" charset="-122"/>
                <a:cs typeface="Calibri" pitchFamily="34" charset="-120"/>
              </a:rPr>
              <a:t>limited pipeline access. Gulf Coast (PADD 3) benefits from proximity to refineries.</a:t>
            </a:r>
            <a:endParaRPr lang="en-US" sz="1200" dirty="0"/>
          </a:p>
        </p:txBody>
      </p:sp>
      <p:pic>
        <p:nvPicPr>
          <p:cNvPr id="6" name="Picture 5" descr="A graph showing a price of gasoline&#10;&#10;Description automatically generated">
            <a:extLst>
              <a:ext uri="{FF2B5EF4-FFF2-40B4-BE49-F238E27FC236}">
                <a16:creationId xmlns:a16="http://schemas.microsoft.com/office/drawing/2014/main" id="{F3AD23BD-EF72-38C2-1C97-29CC68BD89ED}"/>
              </a:ext>
            </a:extLst>
          </p:cNvPr>
          <p:cNvPicPr>
            <a:picLocks noChangeAspect="1"/>
          </p:cNvPicPr>
          <p:nvPr/>
        </p:nvPicPr>
        <p:blipFill>
          <a:blip r:embed="rId3"/>
          <a:stretch>
            <a:fillRect/>
          </a:stretch>
        </p:blipFill>
        <p:spPr>
          <a:xfrm>
            <a:off x="640080" y="1172446"/>
            <a:ext cx="7863840" cy="31903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Supply Chain Overview</a:t>
            </a:r>
            <a:endParaRPr lang="en-US" sz="3200" dirty="0"/>
          </a:p>
        </p:txBody>
      </p:sp>
      <p:sp>
        <p:nvSpPr>
          <p:cNvPr id="4" name="Text 2"/>
          <p:cNvSpPr/>
          <p:nvPr/>
        </p:nvSpPr>
        <p:spPr>
          <a:xfrm>
            <a:off x="640080" y="2286000"/>
            <a:ext cx="7863840" cy="548640"/>
          </a:xfrm>
          <a:prstGeom prst="rect">
            <a:avLst/>
          </a:prstGeom>
          <a:noFill/>
          <a:ln/>
        </p:spPr>
        <p:txBody>
          <a:bodyPr wrap="square" rtlCol="0" anchor="ctr"/>
          <a:lstStyle/>
          <a:p>
            <a:pPr marL="0" indent="0" algn="ctr">
              <a:buNone/>
            </a:pPr>
            <a:r>
              <a:rPr lang="en-US" sz="1600" dirty="0">
                <a:solidFill>
                  <a:srgbClr val="95A5A6"/>
                </a:solidFill>
                <a:latin typeface="Calibri" pitchFamily="34" charset="0"/>
                <a:ea typeface="Calibri" pitchFamily="34" charset="-122"/>
                <a:cs typeface="Calibri" pitchFamily="34" charset="-120"/>
              </a:rPr>
              <a:t>[ INSERT: P6_supply_chain_dashboard.png from your outputs/ folder ]</a:t>
            </a:r>
            <a:endParaRPr lang="en-US" sz="1600" dirty="0"/>
          </a:p>
        </p:txBody>
      </p:sp>
      <p:sp>
        <p:nvSpPr>
          <p:cNvPr id="5" name="Text 3"/>
          <p:cNvSpPr/>
          <p:nvPr/>
        </p:nvSpPr>
        <p:spPr>
          <a:xfrm>
            <a:off x="640080" y="4434840"/>
            <a:ext cx="7863840" cy="548640"/>
          </a:xfrm>
          <a:prstGeom prst="rect">
            <a:avLst/>
          </a:prstGeom>
          <a:noFill/>
          <a:ln/>
        </p:spPr>
        <p:txBody>
          <a:bodyPr wrap="square" rtlCol="0" anchor="ctr"/>
          <a:lstStyle/>
          <a:p>
            <a:pPr marL="0" indent="0">
              <a:buNone/>
            </a:pPr>
            <a:r>
              <a:rPr lang="en-US" sz="1200" i="1" dirty="0">
                <a:solidFill>
                  <a:srgbClr val="7F8C8D"/>
                </a:solidFill>
                <a:latin typeface="Calibri" pitchFamily="34" charset="0"/>
                <a:ea typeface="Calibri" pitchFamily="34" charset="-122"/>
                <a:cs typeface="Calibri" pitchFamily="34" charset="-120"/>
              </a:rPr>
              <a:t>Four-panel view: retail gas price with moving averages, crude oil benchmarks (WTI vs Brent),</a:t>
            </a:r>
            <a:endParaRPr lang="en-US" sz="1200" dirty="0"/>
          </a:p>
          <a:p>
            <a:pPr marL="0" indent="0">
              <a:buNone/>
            </a:pPr>
            <a:r>
              <a:rPr lang="en-US" sz="1200" i="1" dirty="0">
                <a:solidFill>
                  <a:srgbClr val="7F8C8D"/>
                </a:solidFill>
                <a:latin typeface="Calibri" pitchFamily="34" charset="0"/>
                <a:ea typeface="Calibri" pitchFamily="34" charset="-122"/>
                <a:cs typeface="Calibri" pitchFamily="34" charset="-120"/>
              </a:rPr>
              <a:t>refinery utilization rate, and gasoline inventory levels — the complete supply chain picture.</a:t>
            </a:r>
            <a:endParaRPr lang="en-US" sz="1200" dirty="0"/>
          </a:p>
        </p:txBody>
      </p:sp>
      <p:pic>
        <p:nvPicPr>
          <p:cNvPr id="7" name="Picture 6" descr="A graph of a price chart&#10;&#10;Description automatically generated with medium confidence">
            <a:extLst>
              <a:ext uri="{FF2B5EF4-FFF2-40B4-BE49-F238E27FC236}">
                <a16:creationId xmlns:a16="http://schemas.microsoft.com/office/drawing/2014/main" id="{4E01B083-A43F-61C7-1524-52D423CCCF3C}"/>
              </a:ext>
            </a:extLst>
          </p:cNvPr>
          <p:cNvPicPr>
            <a:picLocks noChangeAspect="1"/>
          </p:cNvPicPr>
          <p:nvPr/>
        </p:nvPicPr>
        <p:blipFill>
          <a:blip r:embed="rId3"/>
          <a:stretch>
            <a:fillRect/>
          </a:stretch>
        </p:blipFill>
        <p:spPr>
          <a:xfrm>
            <a:off x="640080" y="979299"/>
            <a:ext cx="7863840" cy="32003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Ethical Implications: Consumer Impact</a:t>
            </a:r>
            <a:endParaRPr lang="en-US" sz="2600" dirty="0"/>
          </a:p>
        </p:txBody>
      </p:sp>
      <p:sp>
        <p:nvSpPr>
          <p:cNvPr id="3" name="Shape 1"/>
          <p:cNvSpPr/>
          <p:nvPr/>
        </p:nvSpPr>
        <p:spPr>
          <a:xfrm>
            <a:off x="457200" y="1097280"/>
            <a:ext cx="393192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457200" y="1097280"/>
            <a:ext cx="3931920" cy="54864"/>
          </a:xfrm>
          <a:prstGeom prst="rect">
            <a:avLst/>
          </a:prstGeom>
          <a:solidFill>
            <a:srgbClr val="E74C3C"/>
          </a:solidFill>
          <a:ln/>
        </p:spPr>
        <p:txBody>
          <a:bodyPr/>
          <a:lstStyle/>
          <a:p>
            <a:endParaRPr lang="en-US"/>
          </a:p>
        </p:txBody>
      </p:sp>
      <p:sp>
        <p:nvSpPr>
          <p:cNvPr id="5" name="Text 3"/>
          <p:cNvSpPr/>
          <p:nvPr/>
        </p:nvSpPr>
        <p:spPr>
          <a:xfrm>
            <a:off x="640080" y="1234440"/>
            <a:ext cx="356616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Rockets &amp; Feathers: Who Pays?</a:t>
            </a:r>
            <a:endParaRPr lang="en-US" sz="1500" dirty="0"/>
          </a:p>
        </p:txBody>
      </p:sp>
      <p:sp>
        <p:nvSpPr>
          <p:cNvPr id="6" name="Text 4"/>
          <p:cNvSpPr/>
          <p:nvPr/>
        </p:nvSpPr>
        <p:spPr>
          <a:xfrm>
            <a:off x="640080" y="1600200"/>
            <a:ext cx="3566160" cy="128016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When crude oil rises $10, gas stations raise pump prices within days. When crude drops $10, they lower prices over weeks. This asymmetry means consumers systematically overpay during volatile periods. Over a year of normal price swings, this "slow-drop" effect can cost a typical household an estimated $50–150 in excess fuel costs.</a:t>
            </a:r>
            <a:endParaRPr lang="en-US" sz="1100" dirty="0"/>
          </a:p>
        </p:txBody>
      </p:sp>
      <p:sp>
        <p:nvSpPr>
          <p:cNvPr id="7" name="Shape 5"/>
          <p:cNvSpPr/>
          <p:nvPr/>
        </p:nvSpPr>
        <p:spPr>
          <a:xfrm>
            <a:off x="4754880" y="1097280"/>
            <a:ext cx="3931920" cy="201168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4754880" y="1097280"/>
            <a:ext cx="3931920" cy="54864"/>
          </a:xfrm>
          <a:prstGeom prst="rect">
            <a:avLst/>
          </a:prstGeom>
          <a:solidFill>
            <a:srgbClr val="E67E22"/>
          </a:solidFill>
          <a:ln/>
        </p:spPr>
        <p:txBody>
          <a:bodyPr/>
          <a:lstStyle/>
          <a:p>
            <a:endParaRPr lang="en-US"/>
          </a:p>
        </p:txBody>
      </p:sp>
      <p:sp>
        <p:nvSpPr>
          <p:cNvPr id="9" name="Text 7"/>
          <p:cNvSpPr/>
          <p:nvPr/>
        </p:nvSpPr>
        <p:spPr>
          <a:xfrm>
            <a:off x="4937760" y="1234440"/>
            <a:ext cx="356616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Disproportionate Burden on Low-Income</a:t>
            </a:r>
            <a:endParaRPr lang="en-US" sz="1500" dirty="0"/>
          </a:p>
        </p:txBody>
      </p:sp>
      <p:sp>
        <p:nvSpPr>
          <p:cNvPr id="10" name="Text 8"/>
          <p:cNvSpPr/>
          <p:nvPr/>
        </p:nvSpPr>
        <p:spPr>
          <a:xfrm>
            <a:off x="4937760" y="1600200"/>
            <a:ext cx="3566160" cy="128016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Low-income households spend 8–10% of income on transportation fuel vs. 2–3% for high-income households. They cannot defer purchases, switch to electric vehicles, or use public transit in most U.S. regions. Every penny of asymmetric pricing represents a regressive wealth transfer from those least able to absorb it.</a:t>
            </a:r>
            <a:endParaRPr lang="en-US" sz="1100" dirty="0"/>
          </a:p>
        </p:txBody>
      </p:sp>
      <p:sp>
        <p:nvSpPr>
          <p:cNvPr id="11" name="Shape 9"/>
          <p:cNvSpPr/>
          <p:nvPr/>
        </p:nvSpPr>
        <p:spPr>
          <a:xfrm>
            <a:off x="457200" y="3383280"/>
            <a:ext cx="8229600" cy="137160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2" name="Shape 10"/>
          <p:cNvSpPr/>
          <p:nvPr/>
        </p:nvSpPr>
        <p:spPr>
          <a:xfrm>
            <a:off x="457200" y="3383280"/>
            <a:ext cx="73152" cy="1371600"/>
          </a:xfrm>
          <a:prstGeom prst="rect">
            <a:avLst/>
          </a:prstGeom>
          <a:solidFill>
            <a:srgbClr val="2E75B6"/>
          </a:solidFill>
          <a:ln/>
        </p:spPr>
        <p:txBody>
          <a:bodyPr/>
          <a:lstStyle/>
          <a:p>
            <a:endParaRPr lang="en-US"/>
          </a:p>
        </p:txBody>
      </p:sp>
      <p:sp>
        <p:nvSpPr>
          <p:cNvPr id="13" name="Text 11"/>
          <p:cNvSpPr/>
          <p:nvPr/>
        </p:nvSpPr>
        <p:spPr>
          <a:xfrm>
            <a:off x="731520" y="3474720"/>
            <a:ext cx="365760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Information Asymmetry</a:t>
            </a:r>
            <a:endParaRPr lang="en-US" sz="1500" dirty="0"/>
          </a:p>
        </p:txBody>
      </p:sp>
      <p:sp>
        <p:nvSpPr>
          <p:cNvPr id="14" name="Text 12"/>
          <p:cNvSpPr/>
          <p:nvPr/>
        </p:nvSpPr>
        <p:spPr>
          <a:xfrm>
            <a:off x="731520" y="3794760"/>
            <a:ext cx="7772400" cy="822960"/>
          </a:xfrm>
          <a:prstGeom prst="rect">
            <a:avLst/>
          </a:prstGeom>
          <a:noFill/>
          <a:ln/>
        </p:spPr>
        <p:txBody>
          <a:bodyPr wrap="square" lIns="0" tIns="0" rIns="0" bIns="0" rtlCol="0" anchor="ctr"/>
          <a:lstStyle/>
          <a:p>
            <a:pPr marL="0" indent="0">
              <a:buNone/>
            </a:pPr>
            <a:r>
              <a:rPr lang="en-US" sz="1100" dirty="0">
                <a:solidFill>
                  <a:srgbClr val="7F8C8D"/>
                </a:solidFill>
                <a:latin typeface="Calibri" pitchFamily="34" charset="0"/>
                <a:ea typeface="Calibri" pitchFamily="34" charset="-122"/>
                <a:cs typeface="Calibri" pitchFamily="34" charset="-120"/>
              </a:rPr>
              <a:t>Oil companies and fuel traders have real-time access to crude prices, inventory data, and futures markets. Consumers see only the number on the pump. If our model can predict price movements from public data, it demonstrates that the information exists to empower consumers — it's just not accessible in a useful format. This raises questions about whether pricing transparency tools should be a public good.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274320"/>
            <a:ext cx="7863840" cy="457200"/>
          </a:xfrm>
          <a:prstGeom prst="rect">
            <a:avLst/>
          </a:prstGeom>
          <a:noFill/>
          <a:ln/>
        </p:spPr>
        <p:txBody>
          <a:bodyPr wrap="square" rtlCol="0" anchor="ctr"/>
          <a:lstStyle/>
          <a:p>
            <a:pPr marL="0" indent="0">
              <a:buNone/>
            </a:pPr>
            <a:r>
              <a:rPr lang="en-US" sz="2600" b="1" dirty="0">
                <a:solidFill>
                  <a:srgbClr val="1B3A5C"/>
                </a:solidFill>
                <a:latin typeface="Trebuchet MS" pitchFamily="34" charset="0"/>
                <a:ea typeface="Trebuchet MS" pitchFamily="34" charset="-122"/>
                <a:cs typeface="Trebuchet MS" pitchFamily="34" charset="-120"/>
              </a:rPr>
              <a:t>Societal Implications: Who Is Affected?</a:t>
            </a:r>
            <a:endParaRPr lang="en-US" sz="2600" dirty="0"/>
          </a:p>
        </p:txBody>
      </p:sp>
      <p:sp>
        <p:nvSpPr>
          <p:cNvPr id="3" name="Shape 1"/>
          <p:cNvSpPr/>
          <p:nvPr/>
        </p:nvSpPr>
        <p:spPr>
          <a:xfrm>
            <a:off x="457200" y="1097280"/>
            <a:ext cx="393192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4" name="Shape 2"/>
          <p:cNvSpPr/>
          <p:nvPr/>
        </p:nvSpPr>
        <p:spPr>
          <a:xfrm>
            <a:off x="457200" y="1097280"/>
            <a:ext cx="73152" cy="1645920"/>
          </a:xfrm>
          <a:prstGeom prst="rect">
            <a:avLst/>
          </a:prstGeom>
          <a:solidFill>
            <a:srgbClr val="27AE60"/>
          </a:solidFill>
          <a:ln/>
        </p:spPr>
        <p:txBody>
          <a:bodyPr/>
          <a:lstStyle/>
          <a:p>
            <a:endParaRPr lang="en-US"/>
          </a:p>
        </p:txBody>
      </p:sp>
      <p:sp>
        <p:nvSpPr>
          <p:cNvPr id="5" name="Text 3"/>
          <p:cNvSpPr/>
          <p:nvPr/>
        </p:nvSpPr>
        <p:spPr>
          <a:xfrm>
            <a:off x="731520" y="1207008"/>
            <a:ext cx="347472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Rural Communities</a:t>
            </a:r>
            <a:endParaRPr lang="en-US" sz="1500" dirty="0"/>
          </a:p>
        </p:txBody>
      </p:sp>
      <p:sp>
        <p:nvSpPr>
          <p:cNvPr id="6" name="Text 4"/>
          <p:cNvSpPr/>
          <p:nvPr/>
        </p:nvSpPr>
        <p:spPr>
          <a:xfrm>
            <a:off x="731520" y="1554480"/>
            <a:ext cx="3474720" cy="1051560"/>
          </a:xfrm>
          <a:prstGeom prst="rect">
            <a:avLst/>
          </a:prstGeom>
          <a:noFill/>
          <a:ln/>
        </p:spPr>
        <p:txBody>
          <a:bodyPr wrap="square" lIns="0" tIns="0" rIns="0" bIns="0" rtlCol="0" anchor="ctr"/>
          <a:lstStyle/>
          <a:p>
            <a:pPr marL="0" indent="0">
              <a:buNone/>
            </a:pPr>
            <a:r>
              <a:rPr lang="en-US" sz="1050" dirty="0">
                <a:solidFill>
                  <a:srgbClr val="7F8C8D"/>
                </a:solidFill>
                <a:latin typeface="Calibri" pitchFamily="34" charset="0"/>
                <a:ea typeface="Calibri" pitchFamily="34" charset="-122"/>
                <a:cs typeface="Calibri" pitchFamily="34" charset="-120"/>
              </a:rPr>
              <a:t>No public transit alternatives. Longer commutes to jobs, hospitals, and schools. Fuel costs are inescapable — price spikes directly reduce disposable income for essentials like food and healthcare.</a:t>
            </a:r>
            <a:endParaRPr lang="en-US" sz="1050" dirty="0"/>
          </a:p>
        </p:txBody>
      </p:sp>
      <p:sp>
        <p:nvSpPr>
          <p:cNvPr id="7" name="Shape 5"/>
          <p:cNvSpPr/>
          <p:nvPr/>
        </p:nvSpPr>
        <p:spPr>
          <a:xfrm>
            <a:off x="457200" y="3017520"/>
            <a:ext cx="393192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8" name="Shape 6"/>
          <p:cNvSpPr/>
          <p:nvPr/>
        </p:nvSpPr>
        <p:spPr>
          <a:xfrm>
            <a:off x="457200" y="3017520"/>
            <a:ext cx="73152" cy="1645920"/>
          </a:xfrm>
          <a:prstGeom prst="rect">
            <a:avLst/>
          </a:prstGeom>
          <a:solidFill>
            <a:srgbClr val="2E75B6"/>
          </a:solidFill>
          <a:ln/>
        </p:spPr>
        <p:txBody>
          <a:bodyPr/>
          <a:lstStyle/>
          <a:p>
            <a:endParaRPr lang="en-US"/>
          </a:p>
        </p:txBody>
      </p:sp>
      <p:sp>
        <p:nvSpPr>
          <p:cNvPr id="9" name="Text 7"/>
          <p:cNvSpPr/>
          <p:nvPr/>
        </p:nvSpPr>
        <p:spPr>
          <a:xfrm>
            <a:off x="731520" y="3127248"/>
            <a:ext cx="347472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Small Businesses</a:t>
            </a:r>
            <a:endParaRPr lang="en-US" sz="1500" dirty="0"/>
          </a:p>
        </p:txBody>
      </p:sp>
      <p:sp>
        <p:nvSpPr>
          <p:cNvPr id="10" name="Text 8"/>
          <p:cNvSpPr/>
          <p:nvPr/>
        </p:nvSpPr>
        <p:spPr>
          <a:xfrm>
            <a:off x="731520" y="3474720"/>
            <a:ext cx="3474720" cy="1051560"/>
          </a:xfrm>
          <a:prstGeom prst="rect">
            <a:avLst/>
          </a:prstGeom>
          <a:noFill/>
          <a:ln/>
        </p:spPr>
        <p:txBody>
          <a:bodyPr wrap="square" lIns="0" tIns="0" rIns="0" bIns="0" rtlCol="0" anchor="ctr"/>
          <a:lstStyle/>
          <a:p>
            <a:pPr marL="0" indent="0">
              <a:buNone/>
            </a:pPr>
            <a:r>
              <a:rPr lang="en-US" sz="1050" dirty="0">
                <a:solidFill>
                  <a:srgbClr val="7F8C8D"/>
                </a:solidFill>
                <a:latin typeface="Calibri" pitchFamily="34" charset="0"/>
                <a:ea typeface="Calibri" pitchFamily="34" charset="-122"/>
                <a:cs typeface="Calibri" pitchFamily="34" charset="-120"/>
              </a:rPr>
              <a:t>Delivery companies, trucking firms, and local retailers absorb fuel costs in their margins. Rapid price spikes can't be passed to customers fast enough, creating cash flow crises for the smallest operators.</a:t>
            </a:r>
            <a:endParaRPr lang="en-US" sz="1050" dirty="0"/>
          </a:p>
        </p:txBody>
      </p:sp>
      <p:sp>
        <p:nvSpPr>
          <p:cNvPr id="11" name="Shape 9"/>
          <p:cNvSpPr/>
          <p:nvPr/>
        </p:nvSpPr>
        <p:spPr>
          <a:xfrm>
            <a:off x="4754880" y="1097280"/>
            <a:ext cx="393192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2" name="Shape 10"/>
          <p:cNvSpPr/>
          <p:nvPr/>
        </p:nvSpPr>
        <p:spPr>
          <a:xfrm>
            <a:off x="4754880" y="1097280"/>
            <a:ext cx="73152" cy="1645920"/>
          </a:xfrm>
          <a:prstGeom prst="rect">
            <a:avLst/>
          </a:prstGeom>
          <a:solidFill>
            <a:srgbClr val="E67E22"/>
          </a:solidFill>
          <a:ln/>
        </p:spPr>
        <p:txBody>
          <a:bodyPr/>
          <a:lstStyle/>
          <a:p>
            <a:endParaRPr lang="en-US"/>
          </a:p>
        </p:txBody>
      </p:sp>
      <p:sp>
        <p:nvSpPr>
          <p:cNvPr id="13" name="Text 11"/>
          <p:cNvSpPr/>
          <p:nvPr/>
        </p:nvSpPr>
        <p:spPr>
          <a:xfrm>
            <a:off x="5029200" y="1207008"/>
            <a:ext cx="347472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Regional Economies</a:t>
            </a:r>
            <a:endParaRPr lang="en-US" sz="1500" dirty="0"/>
          </a:p>
        </p:txBody>
      </p:sp>
      <p:sp>
        <p:nvSpPr>
          <p:cNvPr id="14" name="Text 12"/>
          <p:cNvSpPr/>
          <p:nvPr/>
        </p:nvSpPr>
        <p:spPr>
          <a:xfrm>
            <a:off x="5029200" y="1554480"/>
            <a:ext cx="3474720" cy="1051560"/>
          </a:xfrm>
          <a:prstGeom prst="rect">
            <a:avLst/>
          </a:prstGeom>
          <a:noFill/>
          <a:ln/>
        </p:spPr>
        <p:txBody>
          <a:bodyPr wrap="square" lIns="0" tIns="0" rIns="0" bIns="0" rtlCol="0" anchor="ctr"/>
          <a:lstStyle/>
          <a:p>
            <a:pPr marL="0" indent="0">
              <a:buNone/>
            </a:pPr>
            <a:r>
              <a:rPr lang="en-US" sz="1050" dirty="0">
                <a:solidFill>
                  <a:srgbClr val="7F8C8D"/>
                </a:solidFill>
                <a:latin typeface="Calibri" pitchFamily="34" charset="0"/>
                <a:ea typeface="Calibri" pitchFamily="34" charset="-122"/>
                <a:cs typeface="Calibri" pitchFamily="34" charset="-120"/>
              </a:rPr>
              <a:t>PADD regions with structural price disadvantages (fewer refineries, limited pipelines) face a persistent economic drag. Higher fuel costs raise prices for all local goods and services — a hidden tax on geography.</a:t>
            </a:r>
            <a:endParaRPr lang="en-US" sz="1050" dirty="0"/>
          </a:p>
        </p:txBody>
      </p:sp>
      <p:sp>
        <p:nvSpPr>
          <p:cNvPr id="15" name="Shape 13"/>
          <p:cNvSpPr/>
          <p:nvPr/>
        </p:nvSpPr>
        <p:spPr>
          <a:xfrm>
            <a:off x="4754880" y="3017520"/>
            <a:ext cx="3931920" cy="1645920"/>
          </a:xfrm>
          <a:prstGeom prst="rect">
            <a:avLst/>
          </a:prstGeom>
          <a:solidFill>
            <a:srgbClr val="FFFFFF"/>
          </a:solidFill>
          <a:ln/>
          <a:effectLst>
            <a:outerShdw blurRad="76200" dist="25400" dir="8100000" algn="bl" rotWithShape="0">
              <a:srgbClr val="000000">
                <a:alpha val="10000"/>
              </a:srgbClr>
            </a:outerShdw>
          </a:effectLst>
        </p:spPr>
        <p:txBody>
          <a:bodyPr/>
          <a:lstStyle/>
          <a:p>
            <a:endParaRPr lang="en-US"/>
          </a:p>
        </p:txBody>
      </p:sp>
      <p:sp>
        <p:nvSpPr>
          <p:cNvPr id="16" name="Shape 14"/>
          <p:cNvSpPr/>
          <p:nvPr/>
        </p:nvSpPr>
        <p:spPr>
          <a:xfrm>
            <a:off x="4754880" y="3017520"/>
            <a:ext cx="73152" cy="1645920"/>
          </a:xfrm>
          <a:prstGeom prst="rect">
            <a:avLst/>
          </a:prstGeom>
          <a:solidFill>
            <a:srgbClr val="8E44AD"/>
          </a:solidFill>
          <a:ln/>
        </p:spPr>
        <p:txBody>
          <a:bodyPr/>
          <a:lstStyle/>
          <a:p>
            <a:endParaRPr lang="en-US"/>
          </a:p>
        </p:txBody>
      </p:sp>
      <p:sp>
        <p:nvSpPr>
          <p:cNvPr id="17" name="Text 15"/>
          <p:cNvSpPr/>
          <p:nvPr/>
        </p:nvSpPr>
        <p:spPr>
          <a:xfrm>
            <a:off x="5029200" y="3127248"/>
            <a:ext cx="3474720" cy="320040"/>
          </a:xfrm>
          <a:prstGeom prst="rect">
            <a:avLst/>
          </a:prstGeom>
          <a:noFill/>
          <a:ln/>
        </p:spPr>
        <p:txBody>
          <a:bodyPr wrap="square" lIns="0" tIns="0" rIns="0" bIns="0" rtlCol="0" anchor="ctr"/>
          <a:lstStyle/>
          <a:p>
            <a:pPr marL="0" indent="0">
              <a:buNone/>
            </a:pPr>
            <a:r>
              <a:rPr lang="en-US" sz="1500" b="1" dirty="0">
                <a:solidFill>
                  <a:srgbClr val="2C3E50"/>
                </a:solidFill>
                <a:latin typeface="Trebuchet MS" pitchFamily="34" charset="0"/>
                <a:ea typeface="Trebuchet MS" pitchFamily="34" charset="-122"/>
                <a:cs typeface="Trebuchet MS" pitchFamily="34" charset="-120"/>
              </a:rPr>
              <a:t>Environmental Justice</a:t>
            </a:r>
            <a:endParaRPr lang="en-US" sz="1500" dirty="0"/>
          </a:p>
        </p:txBody>
      </p:sp>
      <p:sp>
        <p:nvSpPr>
          <p:cNvPr id="18" name="Text 16"/>
          <p:cNvSpPr/>
          <p:nvPr/>
        </p:nvSpPr>
        <p:spPr>
          <a:xfrm>
            <a:off x="5029200" y="3474720"/>
            <a:ext cx="3474720" cy="1051560"/>
          </a:xfrm>
          <a:prstGeom prst="rect">
            <a:avLst/>
          </a:prstGeom>
          <a:noFill/>
          <a:ln/>
        </p:spPr>
        <p:txBody>
          <a:bodyPr wrap="square" lIns="0" tIns="0" rIns="0" bIns="0" rtlCol="0" anchor="ctr"/>
          <a:lstStyle/>
          <a:p>
            <a:pPr marL="0" indent="0">
              <a:buNone/>
            </a:pPr>
            <a:r>
              <a:rPr lang="en-US" sz="1050" dirty="0">
                <a:solidFill>
                  <a:srgbClr val="7F8C8D"/>
                </a:solidFill>
                <a:latin typeface="Calibri" pitchFamily="34" charset="0"/>
                <a:ea typeface="Calibri" pitchFamily="34" charset="-122"/>
                <a:cs typeface="Calibri" pitchFamily="34" charset="-120"/>
              </a:rPr>
              <a:t>Communities near refineries bear pollution costs but don't necessarily benefit from lower prices. Price shocks may delay the transition to cleaner energy by making fossil fuel dependency feel inescapable.</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365760"/>
            <a:ext cx="7863840" cy="548640"/>
          </a:xfrm>
          <a:prstGeom prst="rect">
            <a:avLst/>
          </a:prstGeom>
          <a:noFill/>
          <a:ln/>
        </p:spPr>
        <p:txBody>
          <a:bodyPr wrap="square" rtlCol="0" anchor="ctr"/>
          <a:lstStyle/>
          <a:p>
            <a:pPr marL="0" indent="0">
              <a:buNone/>
            </a:pPr>
            <a:r>
              <a:rPr lang="en-US" sz="3200" b="1" dirty="0">
                <a:solidFill>
                  <a:srgbClr val="1B3A5C"/>
                </a:solidFill>
                <a:latin typeface="Trebuchet MS" pitchFamily="34" charset="0"/>
                <a:ea typeface="Trebuchet MS" pitchFamily="34" charset="-122"/>
                <a:cs typeface="Trebuchet MS" pitchFamily="34" charset="-120"/>
              </a:rPr>
              <a:t>Implications for Stakeholders</a:t>
            </a:r>
            <a:endParaRPr lang="en-US" sz="3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1005840"/>
          <a:ext cx="8229600" cy="3520440"/>
        </p:xfrm>
        <a:graphic>
          <a:graphicData uri="http://schemas.openxmlformats.org/drawingml/2006/table">
            <a:tbl>
              <a:tblPr/>
              <a:tblGrid>
                <a:gridCol w="12801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Stakeholder</a:t>
                      </a:r>
                      <a:endParaRPr lang="en-US" sz="11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What This Project Means for Them</a:t>
                      </a:r>
                      <a:endParaRPr lang="en-US" sz="11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B3A5C"/>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Potential Action</a:t>
                      </a:r>
                      <a:endParaRPr lang="en-US" sz="11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1B3A5C"/>
                    </a:solidFill>
                  </a:tcPr>
                </a:tc>
                <a:extLst>
                  <a:ext uri="{0D108BD9-81ED-4DB2-BD59-A6C34878D82A}">
                    <a16:rowId xmlns:a16="http://schemas.microsoft.com/office/drawing/2014/main" val="10000"/>
                  </a:ext>
                </a:extLst>
              </a:tr>
              <a:tr h="640080">
                <a:tc>
                  <a:txBody>
                    <a:bodyPr/>
                    <a:lstStyle/>
                    <a:p>
                      <a:pPr marL="0" indent="0">
                        <a:buNone/>
                      </a:pPr>
                      <a:r>
                        <a:rPr lang="en-US" sz="1000" b="1" dirty="0">
                          <a:solidFill>
                            <a:srgbClr val="2E75B6"/>
                          </a:solidFill>
                          <a:latin typeface="Calibri" pitchFamily="34" charset="0"/>
                          <a:ea typeface="Calibri" pitchFamily="34" charset="-122"/>
                          <a:cs typeface="Calibri" pitchFamily="34" charset="-120"/>
                        </a:rPr>
                        <a:t>Consumers</a:t>
                      </a:r>
                      <a:endParaRPr lang="en-US" sz="10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dirty="0">
                          <a:solidFill>
                            <a:srgbClr val="2C3E50"/>
                          </a:solidFill>
                          <a:latin typeface="Calibri" pitchFamily="34" charset="0"/>
                          <a:ea typeface="Calibri" pitchFamily="34" charset="-122"/>
                          <a:cs typeface="Calibri" pitchFamily="34" charset="-120"/>
                        </a:rPr>
                        <a:t>Better understanding of pricing patterns enables smarter purchasing decisions — knowing when prices are likely to drop can save money on fill-ups</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i="1" dirty="0">
                          <a:solidFill>
                            <a:srgbClr val="7F8C8D"/>
                          </a:solidFill>
                          <a:latin typeface="Calibri" pitchFamily="34" charset="0"/>
                          <a:ea typeface="Calibri" pitchFamily="34" charset="-122"/>
                          <a:cs typeface="Calibri" pitchFamily="34" charset="-120"/>
                        </a:rPr>
                        <a:t>Public-facing price prediction tools, fuel timing apps</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buNone/>
                      </a:pPr>
                      <a:r>
                        <a:rPr lang="en-US" sz="1000" b="1" dirty="0">
                          <a:solidFill>
                            <a:srgbClr val="27AE60"/>
                          </a:solidFill>
                          <a:latin typeface="Calibri" pitchFamily="34" charset="0"/>
                          <a:ea typeface="Calibri" pitchFamily="34" charset="-122"/>
                          <a:cs typeface="Calibri" pitchFamily="34" charset="-120"/>
                        </a:rPr>
                        <a:t>Policymakers</a:t>
                      </a:r>
                      <a:endParaRPr lang="en-US" sz="10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tc>
                  <a:txBody>
                    <a:bodyPr/>
                    <a:lstStyle/>
                    <a:p>
                      <a:pPr marL="0" indent="0">
                        <a:buNone/>
                      </a:pPr>
                      <a:r>
                        <a:rPr lang="en-US" sz="950" dirty="0">
                          <a:solidFill>
                            <a:srgbClr val="2C3E50"/>
                          </a:solidFill>
                          <a:latin typeface="Calibri" pitchFamily="34" charset="0"/>
                          <a:ea typeface="Calibri" pitchFamily="34" charset="-122"/>
                          <a:cs typeface="Calibri" pitchFamily="34" charset="-120"/>
                        </a:rPr>
                        <a:t>Evidence of systematic asymmetry supports case for stronger consumer protection in energy markets and targeted support for vulnerable regions</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tc>
                  <a:txBody>
                    <a:bodyPr/>
                    <a:lstStyle/>
                    <a:p>
                      <a:pPr marL="0" indent="0">
                        <a:buNone/>
                      </a:pPr>
                      <a:r>
                        <a:rPr lang="en-US" sz="950" i="1" dirty="0">
                          <a:solidFill>
                            <a:srgbClr val="7F8C8D"/>
                          </a:solidFill>
                          <a:latin typeface="Calibri" pitchFamily="34" charset="0"/>
                          <a:ea typeface="Calibri" pitchFamily="34" charset="-122"/>
                          <a:cs typeface="Calibri" pitchFamily="34" charset="-120"/>
                        </a:rPr>
                        <a:t>Price monitoring, targeted subsidies, infrastructure investment</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640080">
                <a:tc>
                  <a:txBody>
                    <a:bodyPr/>
                    <a:lstStyle/>
                    <a:p>
                      <a:pPr marL="0" indent="0">
                        <a:buNone/>
                      </a:pPr>
                      <a:r>
                        <a:rPr lang="en-US" sz="1000" b="1" dirty="0">
                          <a:solidFill>
                            <a:srgbClr val="E67E22"/>
                          </a:solidFill>
                          <a:latin typeface="Calibri" pitchFamily="34" charset="0"/>
                          <a:ea typeface="Calibri" pitchFamily="34" charset="-122"/>
                          <a:cs typeface="Calibri" pitchFamily="34" charset="-120"/>
                        </a:rPr>
                        <a:t>Regulators (FTC/DOE)</a:t>
                      </a:r>
                      <a:endParaRPr lang="en-US" sz="10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dirty="0">
                          <a:solidFill>
                            <a:srgbClr val="2C3E50"/>
                          </a:solidFill>
                          <a:latin typeface="Calibri" pitchFamily="34" charset="0"/>
                          <a:ea typeface="Calibri" pitchFamily="34" charset="-122"/>
                          <a:cs typeface="Calibri" pitchFamily="34" charset="-120"/>
                        </a:rPr>
                        <a:t>Regional disparity data highlights areas where market concentration may be harming consumers — provides data-driven basis for enforcement priorities</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i="1" dirty="0">
                          <a:solidFill>
                            <a:srgbClr val="7F8C8D"/>
                          </a:solidFill>
                          <a:latin typeface="Calibri" pitchFamily="34" charset="0"/>
                          <a:ea typeface="Calibri" pitchFamily="34" charset="-122"/>
                          <a:cs typeface="Calibri" pitchFamily="34" charset="-120"/>
                        </a:rPr>
                        <a:t>Market concentration reviews, refinery capacity planning</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buNone/>
                      </a:pPr>
                      <a:r>
                        <a:rPr lang="en-US" sz="1000" b="1" dirty="0">
                          <a:solidFill>
                            <a:srgbClr val="8E44AD"/>
                          </a:solidFill>
                          <a:latin typeface="Calibri" pitchFamily="34" charset="0"/>
                          <a:ea typeface="Calibri" pitchFamily="34" charset="-122"/>
                          <a:cs typeface="Calibri" pitchFamily="34" charset="-120"/>
                        </a:rPr>
                        <a:t>Industry</a:t>
                      </a:r>
                      <a:endParaRPr lang="en-US" sz="10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tc>
                  <a:txBody>
                    <a:bodyPr/>
                    <a:lstStyle/>
                    <a:p>
                      <a:pPr marL="0" indent="0">
                        <a:buNone/>
                      </a:pPr>
                      <a:r>
                        <a:rPr lang="en-US" sz="950" dirty="0">
                          <a:solidFill>
                            <a:srgbClr val="2C3E50"/>
                          </a:solidFill>
                          <a:latin typeface="Calibri" pitchFamily="34" charset="0"/>
                          <a:ea typeface="Calibri" pitchFamily="34" charset="-122"/>
                          <a:cs typeface="Calibri" pitchFamily="34" charset="-120"/>
                        </a:rPr>
                        <a:t>Transparency pressure — if pricing patterns are publicly documented, it incentivizes more competitive and responsive pricing behavior</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tc>
                  <a:txBody>
                    <a:bodyPr/>
                    <a:lstStyle/>
                    <a:p>
                      <a:pPr marL="0" indent="0">
                        <a:buNone/>
                      </a:pPr>
                      <a:r>
                        <a:rPr lang="en-US" sz="950" i="1" dirty="0">
                          <a:solidFill>
                            <a:srgbClr val="7F8C8D"/>
                          </a:solidFill>
                          <a:latin typeface="Calibri" pitchFamily="34" charset="0"/>
                          <a:ea typeface="Calibri" pitchFamily="34" charset="-122"/>
                          <a:cs typeface="Calibri" pitchFamily="34" charset="-120"/>
                        </a:rPr>
                        <a:t>Voluntary price adjustment guidelines, industry self-regulation</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640080">
                <a:tc>
                  <a:txBody>
                    <a:bodyPr/>
                    <a:lstStyle/>
                    <a:p>
                      <a:pPr marL="0" indent="0">
                        <a:buNone/>
                      </a:pPr>
                      <a:r>
                        <a:rPr lang="en-US" sz="1000" b="1" dirty="0">
                          <a:solidFill>
                            <a:srgbClr val="E74C3C"/>
                          </a:solidFill>
                          <a:latin typeface="Calibri" pitchFamily="34" charset="0"/>
                          <a:ea typeface="Calibri" pitchFamily="34" charset="-122"/>
                          <a:cs typeface="Calibri" pitchFamily="34" charset="-120"/>
                        </a:rPr>
                        <a:t>Researchers</a:t>
                      </a:r>
                      <a:endParaRPr lang="en-US" sz="100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dirty="0">
                          <a:solidFill>
                            <a:srgbClr val="2C3E50"/>
                          </a:solidFill>
                          <a:latin typeface="Calibri" pitchFamily="34" charset="0"/>
                          <a:ea typeface="Calibri" pitchFamily="34" charset="-122"/>
                          <a:cs typeface="Calibri" pitchFamily="34" charset="-120"/>
                        </a:rPr>
                        <a:t>Methodological framework for studying price transmission in other commodity markets (natural gas, electricity, food supply chains)</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tc>
                  <a:txBody>
                    <a:bodyPr/>
                    <a:lstStyle/>
                    <a:p>
                      <a:pPr marL="0" indent="0">
                        <a:buNone/>
                      </a:pPr>
                      <a:r>
                        <a:rPr lang="en-US" sz="950" i="1" dirty="0">
                          <a:solidFill>
                            <a:srgbClr val="7F8C8D"/>
                          </a:solidFill>
                          <a:latin typeface="Calibri" pitchFamily="34" charset="0"/>
                          <a:ea typeface="Calibri" pitchFamily="34" charset="-122"/>
                          <a:cs typeface="Calibri" pitchFamily="34" charset="-120"/>
                        </a:rPr>
                        <a:t>Replicable pipeline, open data, published methodology</a:t>
                      </a:r>
                      <a:endParaRPr lang="en-US" sz="950" dirty="0">
                        <a:latin typeface="Calibri" charset="0"/>
                        <a:ea typeface="Calibri" charset="0"/>
                        <a:cs typeface="Calibri" charset="0"/>
                      </a:endParaRPr>
                    </a:p>
                  </a:txBody>
                  <a:tcPr marL="76200" marR="76200" marT="50800" marB="50800">
                    <a:lnL w="6350" cap="flat" cmpd="sng" algn="ctr">
                      <a:solidFill>
                        <a:srgbClr val="E0E0E0"/>
                      </a:solidFill>
                      <a:prstDash val="solid"/>
                      <a:round/>
                      <a:headEnd type="none" w="med" len="med"/>
                      <a:tailEnd type="none" w="med" len="med"/>
                    </a:lnL>
                    <a:lnR w="6350" cap="flat" cmpd="sng" algn="ctr">
                      <a:solidFill>
                        <a:srgbClr val="E0E0E0"/>
                      </a:solidFill>
                      <a:prstDash val="solid"/>
                      <a:round/>
                      <a:headEnd type="none" w="med" len="med"/>
                      <a:tailEnd type="none" w="med" len="med"/>
                    </a:lnR>
                    <a:lnT w="6350" cap="flat" cmpd="sng" algn="ctr">
                      <a:solidFill>
                        <a:srgbClr val="E0E0E0"/>
                      </a:solidFill>
                      <a:prstDash val="solid"/>
                      <a:round/>
                      <a:headEnd type="none" w="med" len="med"/>
                      <a:tailEnd type="none" w="med" len="med"/>
                    </a:lnT>
                    <a:lnB w="6350"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4" name="Text 1"/>
          <p:cNvSpPr/>
          <p:nvPr/>
        </p:nvSpPr>
        <p:spPr>
          <a:xfrm>
            <a:off x="457200" y="4526280"/>
            <a:ext cx="8229600" cy="457200"/>
          </a:xfrm>
          <a:prstGeom prst="rect">
            <a:avLst/>
          </a:prstGeom>
          <a:noFill/>
          <a:ln/>
        </p:spPr>
        <p:txBody>
          <a:bodyPr wrap="square" rtlCol="0" anchor="ctr"/>
          <a:lstStyle/>
          <a:p>
            <a:pPr marL="0" indent="0">
              <a:buNone/>
            </a:pPr>
            <a:r>
              <a:rPr lang="en-US" sz="1000" i="1" dirty="0">
                <a:solidFill>
                  <a:srgbClr val="95A5A6"/>
                </a:solidFill>
                <a:latin typeface="Calibri" pitchFamily="34" charset="0"/>
                <a:ea typeface="Calibri" pitchFamily="34" charset="-122"/>
                <a:cs typeface="Calibri" pitchFamily="34" charset="-120"/>
              </a:rPr>
              <a:t>Limitations: This model captures historical correlations, not causal mechanisms. Results should not be used for</a:t>
            </a:r>
            <a:endParaRPr lang="en-US" sz="1000" dirty="0"/>
          </a:p>
          <a:p>
            <a:pPr marL="0" indent="0">
              <a:buNone/>
            </a:pPr>
            <a:r>
              <a:rPr lang="en-US" sz="1000" i="1" dirty="0">
                <a:solidFill>
                  <a:srgbClr val="95A5A6"/>
                </a:solidFill>
                <a:latin typeface="Calibri" pitchFamily="34" charset="0"/>
                <a:ea typeface="Calibri" pitchFamily="34" charset="-122"/>
                <a:cs typeface="Calibri" pitchFamily="34" charset="-120"/>
              </a:rPr>
              <a:t>individual trading decisions. All findings should be presented with appropriate uncertainty quantification.</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1761</Words>
  <Application>Microsoft Macintosh PowerPoint</Application>
  <PresentationFormat>On-screen Show (16:9)</PresentationFormat>
  <Paragraphs>235</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-webkit-standard</vt: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Gasoline Price Pass-Through — Progress Presentation</dc:title>
  <dc:subject>PptxGenJS Presentation</dc:subject>
  <dc:creator>PptxGenJS</dc:creator>
  <cp:lastModifiedBy>Nguyen, Kien</cp:lastModifiedBy>
  <cp:revision>3</cp:revision>
  <dcterms:created xsi:type="dcterms:W3CDTF">2026-03-25T19:08:04Z</dcterms:created>
  <dcterms:modified xsi:type="dcterms:W3CDTF">2026-03-25T20:13:13Z</dcterms:modified>
</cp:coreProperties>
</file>