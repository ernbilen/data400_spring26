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5"/>
  </p:notesMasterIdLst>
  <p:sldIdLst>
    <p:sldId id="256" r:id="rId2"/>
    <p:sldId id="260" r:id="rId3"/>
    <p:sldId id="257" r:id="rId4"/>
    <p:sldId id="295" r:id="rId5"/>
    <p:sldId id="288" r:id="rId6"/>
    <p:sldId id="289" r:id="rId7"/>
    <p:sldId id="290" r:id="rId8"/>
    <p:sldId id="291" r:id="rId9"/>
    <p:sldId id="292" r:id="rId10"/>
    <p:sldId id="259" r:id="rId11"/>
    <p:sldId id="293" r:id="rId12"/>
    <p:sldId id="294" r:id="rId13"/>
    <p:sldId id="261" r:id="rId14"/>
  </p:sldIdLst>
  <p:sldSz cx="9144000" cy="5143500" type="screen16x9"/>
  <p:notesSz cx="6858000" cy="9144000"/>
  <p:embeddedFontLst>
    <p:embeddedFont>
      <p:font typeface="Hanken Grotesk" pitchFamily="2" charset="77"/>
      <p:regular r:id="rId16"/>
      <p:bold r:id="rId17"/>
      <p:italic r:id="rId18"/>
      <p:boldItalic r:id="rId19"/>
    </p:embeddedFont>
    <p:embeddedFont>
      <p:font typeface="Hind" panose="02000000000000000000" pitchFamily="2" charset="77"/>
      <p:regular r:id="rId20"/>
      <p:bold r:id="rId21"/>
    </p:embeddedFont>
    <p:embeddedFont>
      <p:font typeface="Nunito Light" panose="020F0302020204030204" pitchFamily="34" charset="0"/>
      <p:regular r:id="rId22"/>
      <p:italic r:id="rId23"/>
    </p:embeddedFont>
    <p:embeddedFont>
      <p:font typeface="Open Sans Light" panose="020B0306030504020204" pitchFamily="34" charset="0"/>
      <p:regular r:id="rId24"/>
      <p:italic r:id="rId25"/>
    </p:embeddedFont>
    <p:embeddedFont>
      <p:font typeface="Space Grotesk" pitchFamily="2" charset="77"/>
      <p:regular r:id="rId26"/>
      <p:bold r:id="rId27"/>
    </p:embeddedFont>
    <p:embeddedFont>
      <p:font typeface="Space Grotesk Medium" pitchFamily="2" charset="77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65ACA7-AB8A-4CA6-A8BD-6A2BFB0653C3}">
  <a:tblStyle styleId="{D865ACA7-AB8A-4CA6-A8BD-6A2BFB0653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2"/>
  </p:normalViewPr>
  <p:slideViewPr>
    <p:cSldViewPr snapToGrid="0">
      <p:cViewPr varScale="1">
        <p:scale>
          <a:sx n="120" d="100"/>
          <a:sy n="120" d="100"/>
        </p:scale>
        <p:origin x="20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E629E413-70F8-E2E9-5707-CDC31FA98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431007ba2_0_208:notes">
            <a:extLst>
              <a:ext uri="{FF2B5EF4-FFF2-40B4-BE49-F238E27FC236}">
                <a16:creationId xmlns:a16="http://schemas.microsoft.com/office/drawing/2014/main" id="{D9A3BE6A-2B13-3B57-C873-5B561A74FB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431007ba2_0_208:notes">
            <a:extLst>
              <a:ext uri="{FF2B5EF4-FFF2-40B4-BE49-F238E27FC236}">
                <a16:creationId xmlns:a16="http://schemas.microsoft.com/office/drawing/2014/main" id="{B638BC09-E217-6559-B013-47344168AF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20725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2DF1BFD7-D208-BC80-6BEB-F11FB25AF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431007ba2_0_208:notes">
            <a:extLst>
              <a:ext uri="{FF2B5EF4-FFF2-40B4-BE49-F238E27FC236}">
                <a16:creationId xmlns:a16="http://schemas.microsoft.com/office/drawing/2014/main" id="{96EA94D4-06BB-379B-CA19-55A7C98721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431007ba2_0_208:notes">
            <a:extLst>
              <a:ext uri="{FF2B5EF4-FFF2-40B4-BE49-F238E27FC236}">
                <a16:creationId xmlns:a16="http://schemas.microsoft.com/office/drawing/2014/main" id="{B6EB146E-5563-2E48-FFF5-8B4BE79A97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2829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54dda194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54dda194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23B38CA6-2034-8403-91BC-0BB3911B9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54dda1946d_0_3:notes">
            <a:extLst>
              <a:ext uri="{FF2B5EF4-FFF2-40B4-BE49-F238E27FC236}">
                <a16:creationId xmlns:a16="http://schemas.microsoft.com/office/drawing/2014/main" id="{0937FC80-F6D7-3955-32E3-D3121AB696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54dda1946d_0_3:notes">
            <a:extLst>
              <a:ext uri="{FF2B5EF4-FFF2-40B4-BE49-F238E27FC236}">
                <a16:creationId xmlns:a16="http://schemas.microsoft.com/office/drawing/2014/main" id="{13ADA9CF-E10E-70E0-4564-4A80582AD1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7536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28600" y="444150"/>
            <a:ext cx="7723200" cy="243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672050" y="3009750"/>
            <a:ext cx="6243300" cy="82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28600" y="766500"/>
            <a:ext cx="6204300" cy="29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7263300" y="803100"/>
            <a:ext cx="1652100" cy="1108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28600" y="3940200"/>
            <a:ext cx="6505200" cy="4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720000" y="445019"/>
            <a:ext cx="476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ubTitle" idx="1"/>
          </p:nvPr>
        </p:nvSpPr>
        <p:spPr>
          <a:xfrm>
            <a:off x="713225" y="1790975"/>
            <a:ext cx="4294800" cy="19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2135550" y="1441675"/>
            <a:ext cx="4872900" cy="118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ubTitle" idx="1"/>
          </p:nvPr>
        </p:nvSpPr>
        <p:spPr>
          <a:xfrm>
            <a:off x="2135550" y="278462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228600" y="888300"/>
            <a:ext cx="7496100" cy="150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2528775" y="2624550"/>
            <a:ext cx="6387300" cy="16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42630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228600" y="2215200"/>
            <a:ext cx="4356000" cy="26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4778100" y="228600"/>
            <a:ext cx="4137300" cy="4686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60" r:id="rId10"/>
    <p:sldLayoutId id="2147483661" r:id="rId11"/>
    <p:sldLayoutId id="2147483665" r:id="rId12"/>
    <p:sldLayoutId id="2147483666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nytimes.com/get-starte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ytimes.com/1901/01/01/archives/automobile-line-in-boston.html" TargetMode="External"/><Relationship Id="rId2" Type="http://schemas.openxmlformats.org/officeDocument/2006/relationships/hyperlink" Target="https://www.nytimes.com/1901/01/01/archives/mr-platts-police-bill-provides-for-one-commissioner-with-two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>
            <a:spLocks noGrp="1"/>
          </p:cNvSpPr>
          <p:nvPr>
            <p:ph type="ctrTitle"/>
          </p:nvPr>
        </p:nvSpPr>
        <p:spPr>
          <a:xfrm>
            <a:off x="228600" y="444150"/>
            <a:ext cx="7723200" cy="243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The World Through the Eyes of U.S. Media</a:t>
            </a:r>
            <a:br>
              <a:rPr lang="en-US" sz="2800" dirty="0"/>
            </a:br>
            <a:r>
              <a:rPr lang="en-US" sz="2800" dirty="0"/>
              <a:t>The New York Times</a:t>
            </a:r>
          </a:p>
        </p:txBody>
      </p:sp>
      <p:sp>
        <p:nvSpPr>
          <p:cNvPr id="105" name="Google Shape;105;p25"/>
          <p:cNvSpPr txBox="1">
            <a:spLocks noGrp="1"/>
          </p:cNvSpPr>
          <p:nvPr>
            <p:ph type="subTitle" idx="1"/>
          </p:nvPr>
        </p:nvSpPr>
        <p:spPr>
          <a:xfrm>
            <a:off x="2672092" y="3009750"/>
            <a:ext cx="6243300" cy="82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Tra</a:t>
            </a:r>
            <a:r>
              <a:rPr lang="en" dirty="0"/>
              <a:t> Dinh</a:t>
            </a:r>
            <a:endParaRPr dirty="0"/>
          </a:p>
        </p:txBody>
      </p:sp>
      <p:sp>
        <p:nvSpPr>
          <p:cNvPr id="107" name="Google Shape;107;p25"/>
          <p:cNvSpPr txBox="1"/>
          <p:nvPr/>
        </p:nvSpPr>
        <p:spPr>
          <a:xfrm rot="-5400000">
            <a:off x="-300150" y="3975850"/>
            <a:ext cx="8289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MM/DD/20XX</a:t>
            </a:r>
            <a:endParaRPr sz="8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cxnSp>
        <p:nvCxnSpPr>
          <p:cNvPr id="108" name="Google Shape;108;p25"/>
          <p:cNvCxnSpPr>
            <a:stCxn id="107" idx="1"/>
          </p:cNvCxnSpPr>
          <p:nvPr/>
        </p:nvCxnSpPr>
        <p:spPr>
          <a:xfrm>
            <a:off x="114300" y="4451800"/>
            <a:ext cx="0" cy="749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" name="Google Shape;109;p25"/>
          <p:cNvCxnSpPr/>
          <p:nvPr/>
        </p:nvCxnSpPr>
        <p:spPr>
          <a:xfrm>
            <a:off x="5219400" y="3838650"/>
            <a:ext cx="3696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29" name="Picture 5" descr="The New York Times Digital | The Seattle Public Library">
            <a:extLst>
              <a:ext uri="{FF2B5EF4-FFF2-40B4-BE49-F238E27FC236}">
                <a16:creationId xmlns:a16="http://schemas.microsoft.com/office/drawing/2014/main" id="{AE915CA2-CA8D-E363-E405-4027F07E5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88" y="2931953"/>
            <a:ext cx="2595279" cy="1813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>
            <a:spLocks noGrp="1"/>
          </p:cNvSpPr>
          <p:nvPr>
            <p:ph type="title"/>
          </p:nvPr>
        </p:nvSpPr>
        <p:spPr>
          <a:xfrm>
            <a:off x="228600" y="1106550"/>
            <a:ext cx="7274859" cy="29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2800" dirty="0"/>
              <a:t>Research Question:</a:t>
            </a:r>
            <a:br>
              <a:rPr lang="en" sz="2800" dirty="0"/>
            </a:br>
            <a:r>
              <a:rPr lang="en-US" sz="2800" i="1" dirty="0"/>
              <a:t>Which countries dominated U.S. front-page attention from 1900–2025?</a:t>
            </a:r>
            <a:br>
              <a:rPr lang="en-US" sz="2800" dirty="0"/>
            </a:br>
            <a:endParaRPr sz="2800" dirty="0"/>
          </a:p>
        </p:txBody>
      </p:sp>
      <p:cxnSp>
        <p:nvCxnSpPr>
          <p:cNvPr id="182" name="Google Shape;182;p29"/>
          <p:cNvCxnSpPr/>
          <p:nvPr/>
        </p:nvCxnSpPr>
        <p:spPr>
          <a:xfrm>
            <a:off x="250050" y="4340400"/>
            <a:ext cx="3696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DA6E6505-2609-18D8-BC64-3FA9A7709A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D6BB79B-D374-ABA5-9FB3-24259BFE1C43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>
            <a:spLocks noGrp="1"/>
          </p:cNvSpPr>
          <p:nvPr>
            <p:ph type="title"/>
          </p:nvPr>
        </p:nvSpPr>
        <p:spPr>
          <a:xfrm>
            <a:off x="108725" y="1047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Tractable data</a:t>
            </a:r>
            <a:endParaRPr dirty="0"/>
          </a:p>
        </p:txBody>
      </p:sp>
      <p:sp>
        <p:nvSpPr>
          <p:cNvPr id="149" name="Google Shape;149;p26"/>
          <p:cNvSpPr/>
          <p:nvPr/>
        </p:nvSpPr>
        <p:spPr>
          <a:xfrm>
            <a:off x="0" y="4848125"/>
            <a:ext cx="9144000" cy="342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EA03C6-C07D-89EA-7401-052EACA10AC7}"/>
              </a:ext>
            </a:extLst>
          </p:cNvPr>
          <p:cNvSpPr txBox="1"/>
          <p:nvPr/>
        </p:nvSpPr>
        <p:spPr>
          <a:xfrm>
            <a:off x="392976" y="558083"/>
            <a:ext cx="549411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Data source: NYT Archive API </a:t>
            </a:r>
            <a:r>
              <a:rPr lang="en-US" b="1" dirty="0">
                <a:solidFill>
                  <a:schemeClr val="tx1"/>
                </a:solidFill>
                <a:hlinkClick r:id="rId3"/>
              </a:rPr>
              <a:t>https://developer.nytimes.com/get-started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Time span: 1900–2019</a:t>
            </a:r>
          </a:p>
          <a:p>
            <a:r>
              <a:rPr lang="en-US" b="1" dirty="0">
                <a:solidFill>
                  <a:schemeClr val="tx1"/>
                </a:solidFill>
              </a:rPr>
              <a:t>Unit of analysis: Front-page articles only. Front page reflects editorial priority and agenda-setting.</a:t>
            </a:r>
          </a:p>
        </p:txBody>
      </p:sp>
      <p:sp>
        <p:nvSpPr>
          <p:cNvPr id="7" name="Google Shape;162;p27">
            <a:extLst>
              <a:ext uri="{FF2B5EF4-FFF2-40B4-BE49-F238E27FC236}">
                <a16:creationId xmlns:a16="http://schemas.microsoft.com/office/drawing/2014/main" id="{A9379F28-B1D2-6894-E156-8E5364613651}"/>
              </a:ext>
            </a:extLst>
          </p:cNvPr>
          <p:cNvSpPr txBox="1">
            <a:spLocks/>
          </p:cNvSpPr>
          <p:nvPr/>
        </p:nvSpPr>
        <p:spPr>
          <a:xfrm>
            <a:off x="699512" y="1968792"/>
            <a:ext cx="21423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D457D2-4682-1C42-0AD4-FCF8EAFE6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439" y="1933225"/>
            <a:ext cx="3929043" cy="23588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91A176-ACED-3F15-447C-7BD0C10DD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4916" y="800545"/>
            <a:ext cx="2128352" cy="20241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CF30D87-35A9-40AB-BC0C-B635BA94DF59}"/>
              </a:ext>
            </a:extLst>
          </p:cNvPr>
          <p:cNvSpPr txBox="1"/>
          <p:nvPr/>
        </p:nvSpPr>
        <p:spPr>
          <a:xfrm>
            <a:off x="4572000" y="2913621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Variables: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headline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abstract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pub_date</a:t>
            </a:r>
            <a:endParaRPr lang="en-US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section_name</a:t>
            </a:r>
            <a:endParaRPr lang="en-US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extracted countries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sentiment 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C2B580-0C55-634D-4811-24BC2ED61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348368"/>
              </p:ext>
            </p:extLst>
          </p:nvPr>
        </p:nvGraphicFramePr>
        <p:xfrm>
          <a:off x="233916" y="436606"/>
          <a:ext cx="8569843" cy="1239054"/>
        </p:xfrm>
        <a:graphic>
          <a:graphicData uri="http://schemas.openxmlformats.org/drawingml/2006/table">
            <a:tbl>
              <a:tblPr>
                <a:tableStyleId>{D865ACA7-AB8A-4CA6-A8BD-6A2BFB0653C3}</a:tableStyleId>
              </a:tblPr>
              <a:tblGrid>
                <a:gridCol w="382230">
                  <a:extLst>
                    <a:ext uri="{9D8B030D-6E8A-4147-A177-3AD203B41FA5}">
                      <a16:colId xmlns:a16="http://schemas.microsoft.com/office/drawing/2014/main" val="1070723551"/>
                    </a:ext>
                  </a:extLst>
                </a:gridCol>
                <a:gridCol w="1777674">
                  <a:extLst>
                    <a:ext uri="{9D8B030D-6E8A-4147-A177-3AD203B41FA5}">
                      <a16:colId xmlns:a16="http://schemas.microsoft.com/office/drawing/2014/main" val="2167274480"/>
                    </a:ext>
                  </a:extLst>
                </a:gridCol>
                <a:gridCol w="745224">
                  <a:extLst>
                    <a:ext uri="{9D8B030D-6E8A-4147-A177-3AD203B41FA5}">
                      <a16:colId xmlns:a16="http://schemas.microsoft.com/office/drawing/2014/main" val="1467208546"/>
                    </a:ext>
                  </a:extLst>
                </a:gridCol>
                <a:gridCol w="1092401">
                  <a:extLst>
                    <a:ext uri="{9D8B030D-6E8A-4147-A177-3AD203B41FA5}">
                      <a16:colId xmlns:a16="http://schemas.microsoft.com/office/drawing/2014/main" val="3690193169"/>
                    </a:ext>
                  </a:extLst>
                </a:gridCol>
                <a:gridCol w="540568">
                  <a:extLst>
                    <a:ext uri="{9D8B030D-6E8A-4147-A177-3AD203B41FA5}">
                      <a16:colId xmlns:a16="http://schemas.microsoft.com/office/drawing/2014/main" val="2735771909"/>
                    </a:ext>
                  </a:extLst>
                </a:gridCol>
                <a:gridCol w="484260">
                  <a:extLst>
                    <a:ext uri="{9D8B030D-6E8A-4147-A177-3AD203B41FA5}">
                      <a16:colId xmlns:a16="http://schemas.microsoft.com/office/drawing/2014/main" val="2705431331"/>
                    </a:ext>
                  </a:extLst>
                </a:gridCol>
                <a:gridCol w="585617">
                  <a:extLst>
                    <a:ext uri="{9D8B030D-6E8A-4147-A177-3AD203B41FA5}">
                      <a16:colId xmlns:a16="http://schemas.microsoft.com/office/drawing/2014/main" val="1914897734"/>
                    </a:ext>
                  </a:extLst>
                </a:gridCol>
                <a:gridCol w="501641">
                  <a:extLst>
                    <a:ext uri="{9D8B030D-6E8A-4147-A177-3AD203B41FA5}">
                      <a16:colId xmlns:a16="http://schemas.microsoft.com/office/drawing/2014/main" val="3082319686"/>
                    </a:ext>
                  </a:extLst>
                </a:gridCol>
                <a:gridCol w="1704868">
                  <a:extLst>
                    <a:ext uri="{9D8B030D-6E8A-4147-A177-3AD203B41FA5}">
                      <a16:colId xmlns:a16="http://schemas.microsoft.com/office/drawing/2014/main" val="678960512"/>
                    </a:ext>
                  </a:extLst>
                </a:gridCol>
                <a:gridCol w="755360">
                  <a:extLst>
                    <a:ext uri="{9D8B030D-6E8A-4147-A177-3AD203B41FA5}">
                      <a16:colId xmlns:a16="http://schemas.microsoft.com/office/drawing/2014/main" val="2013320115"/>
                    </a:ext>
                  </a:extLst>
                </a:gridCol>
              </a:tblGrid>
              <a:tr h="205460">
                <a:tc>
                  <a:txBody>
                    <a:bodyPr/>
                    <a:lstStyle/>
                    <a:p>
                      <a:r>
                        <a:rPr lang="en-US" sz="700" b="1">
                          <a:solidFill>
                            <a:schemeClr val="tx1"/>
                          </a:solidFill>
                          <a:effectLst/>
                        </a:rPr>
                        <a:t>pub_date</a:t>
                      </a:r>
                      <a:endParaRPr lang="en-US" sz="7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1"/>
                          </a:solidFill>
                          <a:effectLst/>
                        </a:rPr>
                        <a:t>headline</a:t>
                      </a:r>
                      <a:endParaRPr lang="en-US" sz="7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solidFill>
                            <a:schemeClr val="tx1"/>
                          </a:solidFill>
                          <a:effectLst/>
                        </a:rPr>
                        <a:t>abstract</a:t>
                      </a:r>
                      <a:endParaRPr lang="en-US" sz="7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solidFill>
                            <a:schemeClr val="tx1"/>
                          </a:solidFill>
                          <a:effectLst/>
                        </a:rPr>
                        <a:t>section_name</a:t>
                      </a:r>
                      <a:endParaRPr lang="en-US" sz="7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solidFill>
                            <a:schemeClr val="tx1"/>
                          </a:solidFill>
                          <a:effectLst/>
                        </a:rPr>
                        <a:t>print_section</a:t>
                      </a:r>
                      <a:endParaRPr lang="en-US" sz="7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solidFill>
                            <a:schemeClr val="tx1"/>
                          </a:solidFill>
                          <a:effectLst/>
                        </a:rPr>
                        <a:t>print_page</a:t>
                      </a:r>
                      <a:endParaRPr lang="en-US" sz="7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solidFill>
                            <a:schemeClr val="tx1"/>
                          </a:solidFill>
                          <a:effectLst/>
                        </a:rPr>
                        <a:t>news_desk</a:t>
                      </a:r>
                      <a:endParaRPr lang="en-US" sz="7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solidFill>
                            <a:schemeClr val="tx1"/>
                          </a:solidFill>
                          <a:effectLst/>
                        </a:rPr>
                        <a:t>type_of_material</a:t>
                      </a:r>
                      <a:endParaRPr lang="en-US" sz="7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 b="1" dirty="0" err="1">
                          <a:solidFill>
                            <a:schemeClr val="tx1"/>
                          </a:solidFill>
                          <a:effectLst/>
                        </a:rPr>
                        <a:t>web_url</a:t>
                      </a:r>
                      <a:endParaRPr lang="en-US" sz="7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solidFill>
                            <a:schemeClr val="tx1"/>
                          </a:solidFill>
                          <a:effectLst/>
                        </a:rPr>
                        <a:t>_id</a:t>
                      </a:r>
                      <a:endParaRPr lang="en-US" sz="7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929" marR="10929" marT="10929" marB="10929"/>
                </a:tc>
                <a:extLst>
                  <a:ext uri="{0D108BD9-81ED-4DB2-BD59-A6C34878D82A}">
                    <a16:rowId xmlns:a16="http://schemas.microsoft.com/office/drawing/2014/main" val="1832856734"/>
                  </a:ext>
                </a:extLst>
              </a:tr>
              <a:tr h="205460"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1"/>
                          </a:solidFill>
                          <a:effectLst/>
                        </a:rPr>
                        <a:t>1901-01-01T05:00:00+0000</a:t>
                      </a:r>
                      <a:endParaRPr lang="en-US" sz="7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MR. PLATT'S POLICE BILL; Provides for One Commissioner with Two Deputies.</a:t>
                      </a: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Tammany Committee of Five May Co-operate with Committee of Fifteen</a:t>
                      </a: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Archives</a:t>
                      </a: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b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en-US" sz="70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None</a:t>
                      </a: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Archives</a:t>
                      </a: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 u="sng">
                          <a:solidFill>
                            <a:schemeClr val="tx1"/>
                          </a:solidFill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https://www.nytimes.com/1901/01/01/archives/mr-platts-police-bill-provides-for-one-commissioner-with-two.html</a:t>
                      </a:r>
                      <a:endParaRPr lang="en-US" sz="7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 u="sng">
                          <a:solidFill>
                            <a:schemeClr val="tx1"/>
                          </a:solidFill>
                          <a:effectLst/>
                        </a:rPr>
                        <a:t>nyt://article/0dd79496-c2df-53b4-aa60-9940762b12bc</a:t>
                      </a:r>
                      <a:endParaRPr lang="en-US" sz="7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929" marR="10929" marT="10929" marB="10929"/>
                </a:tc>
                <a:extLst>
                  <a:ext uri="{0D108BD9-81ED-4DB2-BD59-A6C34878D82A}">
                    <a16:rowId xmlns:a16="http://schemas.microsoft.com/office/drawing/2014/main" val="2933284345"/>
                  </a:ext>
                </a:extLst>
              </a:tr>
              <a:tr h="205460">
                <a:tc>
                  <a:txBody>
                    <a:bodyPr/>
                    <a:lstStyle/>
                    <a:p>
                      <a:r>
                        <a:rPr lang="en-US" sz="700" b="1">
                          <a:solidFill>
                            <a:schemeClr val="tx1"/>
                          </a:solidFill>
                          <a:effectLst/>
                        </a:rPr>
                        <a:t>1901-01-01T05:00:00+0000</a:t>
                      </a:r>
                      <a:endParaRPr lang="en-US" sz="7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AUTOMOBILE LINE IN BOSTON.</a:t>
                      </a: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b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en-US" sz="70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Archives</a:t>
                      </a: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b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en-US" sz="700">
                        <a:solidFill>
                          <a:schemeClr val="tx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None</a:t>
                      </a: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Archives</a:t>
                      </a: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 u="sng">
                          <a:solidFill>
                            <a:schemeClr val="tx1"/>
                          </a:solidFill>
                          <a:effectLst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https://www.nytimes.com/1901/01/01/archives/automobile-line-in-boston.html</a:t>
                      </a:r>
                      <a:endParaRPr lang="en-US" sz="7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929" marR="10929" marT="10929" marB="10929"/>
                </a:tc>
                <a:tc>
                  <a:txBody>
                    <a:bodyPr/>
                    <a:lstStyle/>
                    <a:p>
                      <a:r>
                        <a:rPr lang="en-US" sz="700" u="sng" dirty="0" err="1">
                          <a:solidFill>
                            <a:schemeClr val="tx1"/>
                          </a:solidFill>
                          <a:effectLst/>
                        </a:rPr>
                        <a:t>nyt</a:t>
                      </a:r>
                      <a:r>
                        <a:rPr lang="en-US" sz="700" u="sng" dirty="0">
                          <a:solidFill>
                            <a:schemeClr val="tx1"/>
                          </a:solidFill>
                          <a:effectLst/>
                        </a:rPr>
                        <a:t>://article/0deccd1c-7d5e-5be8-b252-417bec4a9cd1</a:t>
                      </a:r>
                      <a:endParaRPr lang="en-US" sz="7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929" marR="10929" marT="10929" marB="10929"/>
                </a:tc>
                <a:extLst>
                  <a:ext uri="{0D108BD9-81ED-4DB2-BD59-A6C34878D82A}">
                    <a16:rowId xmlns:a16="http://schemas.microsoft.com/office/drawing/2014/main" val="128802996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540F079-E754-00AD-2F80-5A5D04254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65" y="2247676"/>
            <a:ext cx="5206039" cy="21861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B95E28-0997-1521-9744-000051D5F3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728" y="2215575"/>
            <a:ext cx="2639985" cy="244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18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08244671-5B01-54A7-3947-119F91DE9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>
            <a:extLst>
              <a:ext uri="{FF2B5EF4-FFF2-40B4-BE49-F238E27FC236}">
                <a16:creationId xmlns:a16="http://schemas.microsoft.com/office/drawing/2014/main" id="{A1968F5A-225E-E59B-6BE5-526A0EF4FA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Retrieval</a:t>
            </a:r>
          </a:p>
        </p:txBody>
      </p:sp>
      <p:pic>
        <p:nvPicPr>
          <p:cNvPr id="150" name="Google Shape;150;p26">
            <a:extLst>
              <a:ext uri="{FF2B5EF4-FFF2-40B4-BE49-F238E27FC236}">
                <a16:creationId xmlns:a16="http://schemas.microsoft.com/office/drawing/2014/main" id="{888A91A4-BA4B-21C3-40B1-A93E5E6BE30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6800" y="4953325"/>
            <a:ext cx="861701" cy="13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3D2A86-8194-9874-3477-E05E7686FB50}"/>
              </a:ext>
            </a:extLst>
          </p:cNvPr>
          <p:cNvSpPr txBox="1"/>
          <p:nvPr/>
        </p:nvSpPr>
        <p:spPr>
          <a:xfrm>
            <a:off x="438854" y="793387"/>
            <a:ext cx="311242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Used NYT Archive API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- Pulled data month-by-month</a:t>
            </a:r>
          </a:p>
          <a:p>
            <a:r>
              <a:rPr lang="en-US" b="1" dirty="0">
                <a:solidFill>
                  <a:schemeClr val="tx1"/>
                </a:solidFill>
              </a:rPr>
              <a:t>- Filtered:</a:t>
            </a:r>
          </a:p>
          <a:p>
            <a:r>
              <a:rPr lang="en-US" b="1" dirty="0">
                <a:solidFill>
                  <a:schemeClr val="tx1"/>
                </a:solidFill>
              </a:rPr>
              <a:t>- </a:t>
            </a:r>
            <a:r>
              <a:rPr lang="en-US" b="1" dirty="0" err="1">
                <a:solidFill>
                  <a:schemeClr val="tx1"/>
                </a:solidFill>
              </a:rPr>
              <a:t>document_type</a:t>
            </a:r>
            <a:r>
              <a:rPr lang="en-US" b="1" dirty="0">
                <a:solidFill>
                  <a:schemeClr val="tx1"/>
                </a:solidFill>
              </a:rPr>
              <a:t> == article</a:t>
            </a:r>
          </a:p>
          <a:p>
            <a:r>
              <a:rPr lang="en-US" b="1" dirty="0">
                <a:solidFill>
                  <a:schemeClr val="tx1"/>
                </a:solidFill>
              </a:rPr>
              <a:t>- </a:t>
            </a:r>
            <a:r>
              <a:rPr lang="en-US" b="1" dirty="0" err="1">
                <a:solidFill>
                  <a:schemeClr val="tx1"/>
                </a:solidFill>
              </a:rPr>
              <a:t>print_page</a:t>
            </a:r>
            <a:r>
              <a:rPr lang="en-US" b="1" dirty="0">
                <a:solidFill>
                  <a:schemeClr val="tx1"/>
                </a:solidFill>
              </a:rPr>
              <a:t> == 1</a:t>
            </a:r>
          </a:p>
          <a:p>
            <a:r>
              <a:rPr lang="en-US" b="1" dirty="0">
                <a:solidFill>
                  <a:schemeClr val="tx1"/>
                </a:solidFill>
              </a:rPr>
              <a:t>- Extracted country names using NLP (</a:t>
            </a:r>
            <a:r>
              <a:rPr lang="en-US" b="1" dirty="0" err="1">
                <a:solidFill>
                  <a:schemeClr val="tx1"/>
                </a:solidFill>
              </a:rPr>
              <a:t>spaCy</a:t>
            </a:r>
            <a:r>
              <a:rPr lang="en-US" b="1" dirty="0">
                <a:solidFill>
                  <a:schemeClr val="tx1"/>
                </a:solidFill>
              </a:rPr>
              <a:t> NER)</a:t>
            </a:r>
          </a:p>
          <a:p>
            <a:r>
              <a:rPr lang="en-US" b="1" dirty="0">
                <a:solidFill>
                  <a:schemeClr val="tx1"/>
                </a:solidFill>
              </a:rPr>
              <a:t>- Normalized country names + capital mapping</a:t>
            </a:r>
          </a:p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Google Shape;162;p27">
            <a:extLst>
              <a:ext uri="{FF2B5EF4-FFF2-40B4-BE49-F238E27FC236}">
                <a16:creationId xmlns:a16="http://schemas.microsoft.com/office/drawing/2014/main" id="{C20FB54F-841B-9ADC-CD23-B6A404727566}"/>
              </a:ext>
            </a:extLst>
          </p:cNvPr>
          <p:cNvSpPr txBox="1">
            <a:spLocks/>
          </p:cNvSpPr>
          <p:nvPr/>
        </p:nvSpPr>
        <p:spPr>
          <a:xfrm>
            <a:off x="699512" y="1968792"/>
            <a:ext cx="21423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990FB8-06B3-1FBE-BC90-A95A925A6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099" y="801300"/>
            <a:ext cx="5116212" cy="7153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13E644-B0A3-7B0C-97E0-8C9907D4F3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4003" y="1913471"/>
            <a:ext cx="5051397" cy="7877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542395-F5A3-A86E-E0A4-2EEE1457F7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854" y="3307562"/>
            <a:ext cx="7772400" cy="129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67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965F9A5-480E-6E6B-08D3-8DC6F69A2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>
            <a:extLst>
              <a:ext uri="{FF2B5EF4-FFF2-40B4-BE49-F238E27FC236}">
                <a16:creationId xmlns:a16="http://schemas.microsoft.com/office/drawing/2014/main" id="{08A2ED73-312A-A47E-E3C8-4A432B5F3A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Exploratory Data Analysis (EDA): </a:t>
            </a:r>
            <a:br>
              <a:rPr lang="en-US" dirty="0"/>
            </a:br>
            <a:r>
              <a:rPr lang="en-US" dirty="0"/>
              <a:t>Compare Late Cold War vs Modern Era</a:t>
            </a:r>
          </a:p>
        </p:txBody>
      </p:sp>
      <p:pic>
        <p:nvPicPr>
          <p:cNvPr id="150" name="Google Shape;150;p26">
            <a:extLst>
              <a:ext uri="{FF2B5EF4-FFF2-40B4-BE49-F238E27FC236}">
                <a16:creationId xmlns:a16="http://schemas.microsoft.com/office/drawing/2014/main" id="{A0E1D191-C903-C000-3652-A0D8CD4AC92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6800" y="4953325"/>
            <a:ext cx="861701" cy="1316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62;p27">
            <a:extLst>
              <a:ext uri="{FF2B5EF4-FFF2-40B4-BE49-F238E27FC236}">
                <a16:creationId xmlns:a16="http://schemas.microsoft.com/office/drawing/2014/main" id="{DD0905BD-2515-F636-20C2-4C41BAEA78DD}"/>
              </a:ext>
            </a:extLst>
          </p:cNvPr>
          <p:cNvSpPr txBox="1">
            <a:spLocks/>
          </p:cNvSpPr>
          <p:nvPr/>
        </p:nvSpPr>
        <p:spPr>
          <a:xfrm>
            <a:off x="699512" y="1968792"/>
            <a:ext cx="21423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02066E9-7530-AEDD-C4BA-6C0045420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265" y="1144768"/>
            <a:ext cx="4246599" cy="3175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149DE97-89F0-2C70-3FF5-CE074B01A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1144768"/>
            <a:ext cx="4246599" cy="3175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789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7C2E8-6796-BA8C-3DDA-53B1E0099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09DDD0C-EF0A-9AFC-DB38-984EEBBEB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76" y="1360967"/>
            <a:ext cx="4304364" cy="286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8B2D6B74-E6F6-15FB-2E26-11278C7AA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643" y="922373"/>
            <a:ext cx="4121757" cy="3338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720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1EAAA-91E0-8F5E-3DC9-57841116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C7FF7E8E-8712-033B-8FB1-0FC2C0A56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469" y="366095"/>
            <a:ext cx="5012273" cy="400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059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539DF-9284-7818-D89D-F7ED6E6C6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437595C-399F-D155-5C01-C7E31A903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697" y="853503"/>
            <a:ext cx="6424605" cy="3436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4256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>
            <a:spLocks noGrp="1"/>
          </p:cNvSpPr>
          <p:nvPr>
            <p:ph type="title"/>
          </p:nvPr>
        </p:nvSpPr>
        <p:spPr>
          <a:xfrm>
            <a:off x="2131828" y="-462035"/>
            <a:ext cx="7496100" cy="150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Implications for stakeholders</a:t>
            </a:r>
            <a:endParaRPr lang="en-US" sz="4000" dirty="0"/>
          </a:p>
        </p:txBody>
      </p:sp>
      <p:sp>
        <p:nvSpPr>
          <p:cNvPr id="174" name="Google Shape;174;p28"/>
          <p:cNvSpPr txBox="1">
            <a:spLocks noGrp="1"/>
          </p:cNvSpPr>
          <p:nvPr>
            <p:ph type="subTitle" idx="1"/>
          </p:nvPr>
        </p:nvSpPr>
        <p:spPr>
          <a:xfrm>
            <a:off x="806301" y="1178522"/>
            <a:ext cx="7496100" cy="16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/>
              <a:t>Media scholars and journalists</a:t>
            </a:r>
          </a:p>
          <a:p>
            <a:pPr lvl="1" algn="l"/>
            <a:r>
              <a:rPr lang="en-US" sz="1600" dirty="0"/>
              <a:t>Gain insight into long-term patterns of media attention and editorial priorities</a:t>
            </a:r>
          </a:p>
          <a:p>
            <a:pPr lvl="1" algn="l"/>
            <a:r>
              <a:rPr lang="en-US" sz="1600" dirty="0"/>
              <a:t>Better understand how news institutions shape public awareness of global events</a:t>
            </a:r>
          </a:p>
          <a:p>
            <a:r>
              <a:rPr lang="en-US" sz="1600" b="1" dirty="0"/>
              <a:t>Historians and political scientists</a:t>
            </a:r>
          </a:p>
          <a:p>
            <a:pPr lvl="1" algn="l"/>
            <a:r>
              <a:rPr lang="en-US" sz="1600" dirty="0"/>
              <a:t>Use the findings to contextualize U.S. perspectives on international relations across different historical periods</a:t>
            </a:r>
          </a:p>
          <a:p>
            <a:pPr lvl="1" algn="l"/>
            <a:r>
              <a:rPr lang="en-US" sz="1600" dirty="0"/>
              <a:t>Identify how wars, diplomacy, and power shifts influence media focus</a:t>
            </a:r>
          </a:p>
          <a:p>
            <a:r>
              <a:rPr lang="en-US" sz="1600" b="1" dirty="0"/>
              <a:t>Policy analysts and international relations researchers</a:t>
            </a:r>
          </a:p>
          <a:p>
            <a:pPr lvl="1" algn="l"/>
            <a:r>
              <a:rPr lang="en-US" sz="1600" dirty="0"/>
              <a:t>Understand which countries have historically dominated U.S. media attention and how that visibility aligns with foreign policy priorities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4227DCC3-B8B1-20C1-BB0B-C5E107570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>
            <a:extLst>
              <a:ext uri="{FF2B5EF4-FFF2-40B4-BE49-F238E27FC236}">
                <a16:creationId xmlns:a16="http://schemas.microsoft.com/office/drawing/2014/main" id="{3CC37FBF-74E1-9B71-E52C-214934718F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9688" y="-451402"/>
            <a:ext cx="7496100" cy="150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/>
              <a:t>Ethical, Legal, Societal Implications</a:t>
            </a:r>
            <a:endParaRPr lang="en-US" sz="4000" dirty="0"/>
          </a:p>
        </p:txBody>
      </p:sp>
      <p:sp>
        <p:nvSpPr>
          <p:cNvPr id="174" name="Google Shape;174;p28">
            <a:extLst>
              <a:ext uri="{FF2B5EF4-FFF2-40B4-BE49-F238E27FC236}">
                <a16:creationId xmlns:a16="http://schemas.microsoft.com/office/drawing/2014/main" id="{DD702F65-AEA0-935E-B256-D621A81B74E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1239" y="1338012"/>
            <a:ext cx="7912398" cy="29681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-US" sz="1800" dirty="0"/>
              <a:t>To understand how U.S. media attention toward different countries has changed over time</a:t>
            </a:r>
          </a:p>
          <a:p>
            <a:pPr marL="285750" indent="-285750"/>
            <a:r>
              <a:rPr lang="en-US" sz="1800" dirty="0"/>
              <a:t>To examine how major global events (wars, political conflicts, economic crises) influence which countries dominate U.S. news coverage</a:t>
            </a:r>
          </a:p>
          <a:p>
            <a:pPr marL="285750" indent="-285750"/>
            <a:r>
              <a:rPr lang="en-US" sz="1800" dirty="0"/>
              <a:t>To analyze front-page headlines as a reflection of collective awareness and national priorities in the United States</a:t>
            </a:r>
          </a:p>
          <a:p>
            <a:pPr marL="285750" indent="-285750"/>
            <a:r>
              <a:rPr lang="en-US" sz="1800" dirty="0"/>
              <a:t>To treat media coverage as a lens shaping public perception, rather than an objective measure of global importance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A1A9E-F7FD-A639-37DA-A7674AE73B2A}"/>
              </a:ext>
            </a:extLst>
          </p:cNvPr>
          <p:cNvSpPr txBox="1"/>
          <p:nvPr/>
        </p:nvSpPr>
        <p:spPr>
          <a:xfrm>
            <a:off x="-2147777" y="-132907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268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4078B-2E92-C270-FE0E-920686F5F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854" y="-308012"/>
            <a:ext cx="7496100" cy="1507800"/>
          </a:xfrm>
        </p:spPr>
        <p:txBody>
          <a:bodyPr/>
          <a:lstStyle/>
          <a:p>
            <a:r>
              <a:rPr lang="en-US" dirty="0"/>
              <a:t>Engagement &amp; Originality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7F3DC8-E9BD-8197-3002-07AEAF33D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854" y="1306114"/>
            <a:ext cx="7582788" cy="1630800"/>
          </a:xfrm>
        </p:spPr>
        <p:txBody>
          <a:bodyPr/>
          <a:lstStyle/>
          <a:p>
            <a:r>
              <a:rPr lang="en-US" sz="1800" dirty="0"/>
              <a:t>120-year longitudinal media analysis</a:t>
            </a:r>
          </a:p>
          <a:p>
            <a:r>
              <a:rPr lang="en-US" sz="1800" dirty="0"/>
              <a:t>Era comparison framework</a:t>
            </a:r>
          </a:p>
          <a:p>
            <a:r>
              <a:rPr lang="en-US" sz="1800" dirty="0"/>
              <a:t>Sentiment + frequency relationship</a:t>
            </a:r>
          </a:p>
          <a:p>
            <a:r>
              <a:rPr lang="en-US" sz="1800" dirty="0"/>
              <a:t>Capital-to-country NLP mapping</a:t>
            </a:r>
          </a:p>
          <a:p>
            <a:r>
              <a:rPr lang="en-US" sz="1800" dirty="0"/>
              <a:t>Comparative Cold War vs Modern Era framing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18481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42630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188" name="Google Shape;188;p30"/>
          <p:cNvSpPr txBox="1">
            <a:spLocks noGrp="1"/>
          </p:cNvSpPr>
          <p:nvPr>
            <p:ph type="subTitle" idx="1"/>
          </p:nvPr>
        </p:nvSpPr>
        <p:spPr>
          <a:xfrm>
            <a:off x="91049" y="843600"/>
            <a:ext cx="8961901" cy="26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dirty="0"/>
              <a:t>Limitations &amp; Key Insights</a:t>
            </a:r>
          </a:p>
          <a:p>
            <a:r>
              <a:rPr lang="en-US" sz="1400" b="1" dirty="0"/>
              <a:t>Limitations</a:t>
            </a:r>
          </a:p>
          <a:p>
            <a:r>
              <a:rPr lang="en-US" sz="1400" b="1" dirty="0"/>
              <a:t>Takes a lot of time to load the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Country detection relies on a predefined dictionary (201 country names + capitals), which may miss references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- President names (e.g., “Trump,” “Putin”)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- Major cities not included in the dictionary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- Historical country names (e.g., USSR)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Some years contain missing or incomplete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Sentiment analysis (VADER) captures surface tone and may not detect nuanced geopolitical framing.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Headline and abstract text may not fully represent the article’s complete narrative.</a:t>
            </a:r>
          </a:p>
          <a:p>
            <a:r>
              <a:rPr lang="en-US" sz="1400" b="1" dirty="0"/>
              <a:t>Key Findings</a:t>
            </a:r>
          </a:p>
          <a:p>
            <a:r>
              <a:rPr lang="en-US" sz="1400" dirty="0"/>
              <a:t>Media attention shifts reflect broader geopolitical power transitions.</a:t>
            </a:r>
          </a:p>
          <a:p>
            <a:pPr lvl="1" algn="l"/>
            <a:r>
              <a:rPr lang="en-US" sz="1400" dirty="0"/>
              <a:t>Coverage is generally crisis-driven and skews negative.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sz="1400" dirty="0"/>
              <a:t>During the Cold War, coverage was highly concentrated around bipolar superpowers.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sz="1400" dirty="0"/>
              <a:t>In the Modern Era, attention is more multipolar but remains concentrated among major global powers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Theme by Slidesgo">
  <a:themeElements>
    <a:clrScheme name="Simple Light">
      <a:dk1>
        <a:srgbClr val="FFFFFF"/>
      </a:dk1>
      <a:lt1>
        <a:srgbClr val="0D0D0D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</Words>
  <Application>Microsoft Macintosh PowerPoint</Application>
  <PresentationFormat>On-screen Show (16:9)</PresentationFormat>
  <Paragraphs>91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Helvetica</vt:lpstr>
      <vt:lpstr>Nunito Light</vt:lpstr>
      <vt:lpstr>Hanken Grotesk</vt:lpstr>
      <vt:lpstr>Space Grotesk</vt:lpstr>
      <vt:lpstr>Space Grotesk Medium</vt:lpstr>
      <vt:lpstr>Open Sans Light</vt:lpstr>
      <vt:lpstr>Hind</vt:lpstr>
      <vt:lpstr>Dark Theme by Slidesgo</vt:lpstr>
      <vt:lpstr>The World Through the Eyes of U.S. Media The New York Times</vt:lpstr>
      <vt:lpstr>Research Question: Which countries dominated U.S. front-page attention from 1900–2025? </vt:lpstr>
      <vt:lpstr>Tractable data</vt:lpstr>
      <vt:lpstr>PowerPoint Presentation</vt:lpstr>
      <vt:lpstr>Data Retrieval</vt:lpstr>
      <vt:lpstr>Exploratory Data Analysis (EDA):  Compare Late Cold War vs Modern Era</vt:lpstr>
      <vt:lpstr>PowerPoint Presentation</vt:lpstr>
      <vt:lpstr>PowerPoint Presentation</vt:lpstr>
      <vt:lpstr>PowerPoint Presentation</vt:lpstr>
      <vt:lpstr>Implications for stakeholders</vt:lpstr>
      <vt:lpstr>Ethical, Legal, Societal Implications</vt:lpstr>
      <vt:lpstr>Engagement &amp; Originality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Dinh, Tra</cp:lastModifiedBy>
  <cp:revision>1</cp:revision>
  <dcterms:modified xsi:type="dcterms:W3CDTF">2026-02-18T15:03:37Z</dcterms:modified>
</cp:coreProperties>
</file>